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7" r:id="rId11"/>
    <p:sldId id="266" r:id="rId12"/>
    <p:sldId id="268" r:id="rId13"/>
    <p:sldId id="269" r:id="rId14"/>
    <p:sldId id="270" r:id="rId15"/>
    <p:sldId id="271" r:id="rId16"/>
    <p:sldId id="272"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2B359D-1EA6-6092-23E4-498CB74EF8DF}"/>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00208366-9A58-B75A-5D9E-8F76FB3703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25B74B97-D7E1-6D76-0481-B068959B15BF}"/>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A84063AB-65C1-77CD-97BF-9FF4EBB6DFC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527A100-11AE-BCEB-B323-3BC0DB3C07B6}"/>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392336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5F505-6388-17EF-4027-326E3A28F518}"/>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3ABB8025-CCCB-2993-0C87-426243CF44D3}"/>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68BE1FD-8AE7-EAB3-BBB4-6A338DC55357}"/>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1C4FB616-26B1-439A-80D6-D7E23AA2C0D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231C12-A292-E22B-76AB-B5549F05D244}"/>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3139863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2F6DD-C320-62C9-894B-21E54F55445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F3FCA539-B1F0-CD5D-2AAE-D08AF7BE8F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01BFF80C-095D-AED1-75C7-1A80CF7A9D20}"/>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5C9E08EB-6E06-F75B-FFA7-0578BF55333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B0CF61A-9B09-0C9F-5F9A-612BAB159AAC}"/>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1050915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9CEDAD-EAEB-797C-4249-81DDD95079BB}"/>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1859880-E72D-A507-BC53-2D4169A7B6B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750B2BA8-5E43-24C3-F031-21CF9047ADA1}"/>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0E8B0C13-5E02-D85B-8663-74EFB7228837}"/>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6" name="Marcador de pie de página 5">
            <a:extLst>
              <a:ext uri="{FF2B5EF4-FFF2-40B4-BE49-F238E27FC236}">
                <a16:creationId xmlns:a16="http://schemas.microsoft.com/office/drawing/2014/main" id="{AD1E00EF-CC54-ECB0-030D-82B72970462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6C10ED9-2F28-4BC3-E6AD-81479C809BAE}"/>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108961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6D069B-4C12-281B-05B1-AE4379B8D137}"/>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0277585D-244B-7D64-D9E9-F55627F5F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B9EAED07-9480-D11A-A1C2-9EDE46E1D60E}"/>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55781413-41B2-18B8-86A7-799C6B9F1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0D4C215B-936A-CF22-0469-014B16137607}"/>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E9830134-5047-C147-722B-E23DCBEF5ABE}"/>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8" name="Marcador de pie de página 7">
            <a:extLst>
              <a:ext uri="{FF2B5EF4-FFF2-40B4-BE49-F238E27FC236}">
                <a16:creationId xmlns:a16="http://schemas.microsoft.com/office/drawing/2014/main" id="{432B99A8-0261-68D8-D3B4-27174868517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7AD76075-7999-7D36-A289-961529D65813}"/>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2457336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CDC7B4-5689-1C03-A179-52D406734B5B}"/>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6F4DD444-9105-8820-5611-D9460CF627AC}"/>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4" name="Marcador de pie de página 3">
            <a:extLst>
              <a:ext uri="{FF2B5EF4-FFF2-40B4-BE49-F238E27FC236}">
                <a16:creationId xmlns:a16="http://schemas.microsoft.com/office/drawing/2014/main" id="{52B35185-4CCA-FF47-57EF-C321EA1A229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7E24170-52A7-6FBD-BB30-7492C3D66FD6}"/>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757055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6287A3-D7D6-940B-7E6C-97E659CF1FD1}"/>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3" name="Marcador de pie de página 2">
            <a:extLst>
              <a:ext uri="{FF2B5EF4-FFF2-40B4-BE49-F238E27FC236}">
                <a16:creationId xmlns:a16="http://schemas.microsoft.com/office/drawing/2014/main" id="{103B9A75-D9E2-296D-6028-95C0CF739178}"/>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1C64FAF-1D86-2B4A-C1B9-173466BFB55A}"/>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2709904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D94B2A-FC37-5739-5C9D-4C0D0D1AFAD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7A7ECCC1-4A28-75D2-5BB9-EE775BCF1F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8801BC9A-22C8-09AB-2BF2-ED41B0A086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C412657-58DA-6A24-45AF-C62E6AA308B0}"/>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6" name="Marcador de pie de página 5">
            <a:extLst>
              <a:ext uri="{FF2B5EF4-FFF2-40B4-BE49-F238E27FC236}">
                <a16:creationId xmlns:a16="http://schemas.microsoft.com/office/drawing/2014/main" id="{4814FCFB-76B2-388D-9469-AFA1B96E793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8501E64-7D43-1247-9E1E-4A8DF44007B5}"/>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2351227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98C98B-D83A-4B49-0DE4-968E0231F784}"/>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335184CE-4A95-91DD-13EE-424D2F5143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608A4CC0-41C0-D6ED-09FC-88BAF9BDF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3E953AB2-4ED4-644C-97AC-0AA4BD4FC424}"/>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6" name="Marcador de pie de página 5">
            <a:extLst>
              <a:ext uri="{FF2B5EF4-FFF2-40B4-BE49-F238E27FC236}">
                <a16:creationId xmlns:a16="http://schemas.microsoft.com/office/drawing/2014/main" id="{536ACA9C-40E6-392D-3292-5A9E8E60362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3C1B941-8620-128B-E090-DC0102E01A5B}"/>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1526750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4566D-9AEA-F953-ABAD-869D075CDC9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2A34520-1C7A-E217-D554-E8586951FF38}"/>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7A325BDE-455F-1BC9-CE7F-5257FC39AA6A}"/>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798AB150-8597-65A3-57E4-2BB3C0D5F1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53FA9F9-EA02-8093-E25B-F419672CB00E}"/>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1616273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5AF652B-2B68-8573-842E-8AE49204DEE2}"/>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6CBA5E1-AE1A-B543-ED38-284FDA8D409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704FC9B2-7955-CEE2-9A4A-D16DFB0E73BA}"/>
              </a:ext>
            </a:extLst>
          </p:cNvPr>
          <p:cNvSpPr>
            <a:spLocks noGrp="1"/>
          </p:cNvSpPr>
          <p:nvPr>
            <p:ph type="dt" sz="half" idx="10"/>
          </p:nvPr>
        </p:nvSpPr>
        <p:spPr/>
        <p:txBody>
          <a:body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70FD485D-E142-740D-DC71-9AC6D9ED5F8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F0BE6E2-CAD4-975A-0AAA-B72F812DDB12}"/>
              </a:ext>
            </a:extLst>
          </p:cNvPr>
          <p:cNvSpPr>
            <a:spLocks noGrp="1"/>
          </p:cNvSpPr>
          <p:nvPr>
            <p:ph type="sldNum" sz="quarter" idx="12"/>
          </p:nvPr>
        </p:nvSpPr>
        <p:spPr/>
        <p:txBody>
          <a:bodyPr/>
          <a:lstStyle/>
          <a:p>
            <a:fld id="{878CD1EB-6A92-4535-9C52-135FA0D0858D}" type="slidenum">
              <a:rPr lang="es-MX" smtClean="0"/>
              <a:t>‹Nº›</a:t>
            </a:fld>
            <a:endParaRPr lang="es-MX"/>
          </a:p>
        </p:txBody>
      </p:sp>
    </p:spTree>
    <p:extLst>
      <p:ext uri="{BB962C8B-B14F-4D97-AF65-F5344CB8AC3E}">
        <p14:creationId xmlns:p14="http://schemas.microsoft.com/office/powerpoint/2010/main" val="372757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567F369-A2DD-25F5-C11B-A6C7A2641F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602E0D9B-4CCA-A006-9D22-F572389C99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9B1290A-4A90-B762-6FDD-FEDD73B1A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FC5884-9009-4C6F-B764-DC6F870E11CC}" type="datetimeFigureOut">
              <a:rPr lang="es-MX" smtClean="0"/>
              <a:t>08/10/2026</a:t>
            </a:fld>
            <a:endParaRPr lang="es-MX"/>
          </a:p>
        </p:txBody>
      </p:sp>
      <p:sp>
        <p:nvSpPr>
          <p:cNvPr id="5" name="Marcador de pie de página 4">
            <a:extLst>
              <a:ext uri="{FF2B5EF4-FFF2-40B4-BE49-F238E27FC236}">
                <a16:creationId xmlns:a16="http://schemas.microsoft.com/office/drawing/2014/main" id="{AEB749B5-056E-5D6C-7CB7-F0A51D3F4B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83E0A70B-EB10-52BA-69B7-2CC4CCF9A2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8CD1EB-6A92-4535-9C52-135FA0D0858D}" type="slidenum">
              <a:rPr lang="es-MX" smtClean="0"/>
              <a:t>‹Nº›</a:t>
            </a:fld>
            <a:endParaRPr lang="es-MX"/>
          </a:p>
        </p:txBody>
      </p:sp>
    </p:spTree>
    <p:extLst>
      <p:ext uri="{BB962C8B-B14F-4D97-AF65-F5344CB8AC3E}">
        <p14:creationId xmlns:p14="http://schemas.microsoft.com/office/powerpoint/2010/main" val="818267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155FD-4400-1949-7D48-7D368E2F35E0}"/>
              </a:ext>
            </a:extLst>
          </p:cNvPr>
          <p:cNvSpPr>
            <a:spLocks noGrp="1"/>
          </p:cNvSpPr>
          <p:nvPr>
            <p:ph type="ctrTitle"/>
          </p:nvPr>
        </p:nvSpPr>
        <p:spPr/>
        <p:txBody>
          <a:bodyPr/>
          <a:lstStyle/>
          <a:p>
            <a:r>
              <a:rPr lang="es-MX" dirty="0"/>
              <a:t>o</a:t>
            </a:r>
          </a:p>
        </p:txBody>
      </p:sp>
      <p:sp>
        <p:nvSpPr>
          <p:cNvPr id="3" name="Subtítulo 2">
            <a:extLst>
              <a:ext uri="{FF2B5EF4-FFF2-40B4-BE49-F238E27FC236}">
                <a16:creationId xmlns:a16="http://schemas.microsoft.com/office/drawing/2014/main" id="{A2895BDC-BDC9-61B3-273B-FC49B249FC8C}"/>
              </a:ext>
            </a:extLst>
          </p:cNvPr>
          <p:cNvSpPr>
            <a:spLocks noGrp="1"/>
          </p:cNvSpPr>
          <p:nvPr>
            <p:ph type="subTitle" idx="1"/>
          </p:nvPr>
        </p:nvSpPr>
        <p:spPr/>
        <p:txBody>
          <a:bodyPr/>
          <a:lstStyle/>
          <a:p>
            <a:endParaRPr lang="es-MX"/>
          </a:p>
        </p:txBody>
      </p:sp>
      <p:pic>
        <p:nvPicPr>
          <p:cNvPr id="4" name="Picture 2">
            <a:extLst>
              <a:ext uri="{FF2B5EF4-FFF2-40B4-BE49-F238E27FC236}">
                <a16:creationId xmlns:a16="http://schemas.microsoft.com/office/drawing/2014/main" id="{4544E0FF-85CF-8086-1C12-CAEF875C79B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2">
            <a:extLst>
              <a:ext uri="{FF2B5EF4-FFF2-40B4-BE49-F238E27FC236}">
                <a16:creationId xmlns:a16="http://schemas.microsoft.com/office/drawing/2014/main" id="{11515F15-8C63-BCBA-C520-411E4EBDDC30}"/>
              </a:ext>
            </a:extLst>
          </p:cNvPr>
          <p:cNvSpPr>
            <a:spLocks noChangeArrowheads="1"/>
          </p:cNvSpPr>
          <p:nvPr/>
        </p:nvSpPr>
        <p:spPr bwMode="auto">
          <a:xfrm>
            <a:off x="776748" y="582066"/>
            <a:ext cx="1028454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MX" altLang="es-MX" sz="3200" b="0" i="0" u="none" strike="noStrike" cap="none" normalizeH="0" baseline="0" dirty="0">
                <a:ln>
                  <a:noFill/>
                </a:ln>
                <a:solidFill>
                  <a:schemeClr val="tx1"/>
                </a:solidFill>
                <a:effectLst/>
                <a:latin typeface="Arial" panose="020B0604020202020204" pitchFamily="34" charset="0"/>
              </a:rPr>
            </a:br>
            <a:endParaRPr kumimoji="0" lang="es-MX" altLang="es-MX" sz="32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TECNOLOGICO NACIONAL DE MEXICO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INSTITUTO TECNOLOGICO DE FRONTERA COMALAPA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CARRERA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INGENIERIA EN SISTEMAS COMPUTACIONALES</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MATERIA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SIMULACION</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TRABAJO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REPORTE DE PRACTICA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CATEDRATICO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ING.FRANCISCO JAVIER MINGO VELAZQUEZ</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ESTUDIANTE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JESUS EDUARDO VILLARREAL LOPEZ</a:t>
            </a: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2412600</a:t>
            </a: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76</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SEMESTRE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5</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FRONTERA COMALAPA FECHA DE ENTREGA: </a:t>
            </a:r>
            <a:r>
              <a:rPr lang="es-MX" altLang="es-MX" sz="2000" b="1" dirty="0">
                <a:latin typeface="Times New Roman" panose="02020603050405020304" pitchFamily="18" charset="0"/>
                <a:ea typeface="Calibri" panose="020F0502020204030204" pitchFamily="34" charset="0"/>
                <a:cs typeface="Times New Roman" panose="02020603050405020304" pitchFamily="18" charset="0"/>
              </a:rPr>
              <a:t>14/09/</a:t>
            </a: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2026</a:t>
            </a:r>
            <a:endParaRPr kumimoji="0" lang="es-MX" altLang="es-MX" sz="3200" b="0" i="0" u="none" strike="noStrike" cap="none" normalizeH="0" baseline="0" dirty="0">
              <a:ln>
                <a:noFill/>
              </a:ln>
              <a:solidFill>
                <a:schemeClr val="tx1"/>
              </a:solidFill>
              <a:effectLst/>
              <a:latin typeface="Arial" panose="020B0604020202020204" pitchFamily="34" charset="0"/>
            </a:endParaRPr>
          </a:p>
        </p:txBody>
      </p:sp>
      <p:pic>
        <p:nvPicPr>
          <p:cNvPr id="6" name="Imagen 1" descr="Logos Oficiales – Tecnológico Nacional de México">
            <a:extLst>
              <a:ext uri="{FF2B5EF4-FFF2-40B4-BE49-F238E27FC236}">
                <a16:creationId xmlns:a16="http://schemas.microsoft.com/office/drawing/2014/main" id="{3347955A-817B-95EA-3A08-8CEDC2B5B76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11738" y="684442"/>
            <a:ext cx="2386188" cy="105251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descr="Secretaría de Educación Pública | Secretaría de Educación ...">
            <a:extLst>
              <a:ext uri="{FF2B5EF4-FFF2-40B4-BE49-F238E27FC236}">
                <a16:creationId xmlns:a16="http://schemas.microsoft.com/office/drawing/2014/main" id="{2C71FF88-6510-5D57-2CF8-71AF26ED78F8}"/>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683894" y="597455"/>
            <a:ext cx="2120900" cy="105251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2" descr="TecNM | Tecnológico Nacional de México">
            <a:extLst>
              <a:ext uri="{FF2B5EF4-FFF2-40B4-BE49-F238E27FC236}">
                <a16:creationId xmlns:a16="http://schemas.microsoft.com/office/drawing/2014/main" id="{FC01F475-3377-5BBC-0FB9-EC1F7F16E43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080449" y="597455"/>
            <a:ext cx="1980841" cy="126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426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5A3214-93E7-5808-6507-4939BB3CBCB1}"/>
              </a:ext>
            </a:extLst>
          </p:cNvPr>
          <p:cNvSpPr>
            <a:spLocks noGrp="1"/>
          </p:cNvSpPr>
          <p:nvPr>
            <p:ph type="title"/>
          </p:nvPr>
        </p:nvSpPr>
        <p:spPr/>
        <p:txBody>
          <a:bodyPr/>
          <a:lstStyle/>
          <a:p>
            <a:pPr algn="ctr"/>
            <a:r>
              <a:rPr lang="es-MX" dirty="0"/>
              <a:t>INTRODUCCION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0D273A0-B6D0-F6C7-B0CB-51CC4C432D05}"/>
                  </a:ext>
                </a:extLst>
              </p:cNvPr>
              <p:cNvSpPr>
                <a:spLocks noGrp="1"/>
              </p:cNvSpPr>
              <p:nvPr>
                <p:ph idx="1"/>
              </p:nvPr>
            </p:nvSpPr>
            <p:spPr/>
            <p:txBody>
              <a:bodyPr>
                <a:normAutofit fontScale="85000" lnSpcReduction="10000"/>
              </a:bodyPr>
              <a:lstStyle/>
              <a:p>
                <a:pPr algn="just"/>
                <a:r>
                  <a:rPr lang="es-MX" dirty="0"/>
                  <a:t>La simulación computacional de fenómenos naturales constituye una herramienta fundamental para la evaluación de riesgos, la planificación urbana y la elaboración de protocolos de protección civil. El comportamiento de flujos piroclásticos y lava emitidos por estratovolcanes activos, como el Popocatépetl, presenta dinámicas complejas que requieren representación gráfica continua y un manejo eficiente de datos georreferenciados.</a:t>
                </a:r>
              </a:p>
              <a:p>
                <a:pPr algn="just"/>
                <a:r>
                  <a:rPr lang="es-MX" dirty="0"/>
                  <a:t>En esta práctica se desarrolló una aplicación de escritorio multiplataforma orientada a objetos en Java 21, utilizando el </a:t>
                </a:r>
                <a:r>
                  <a:rPr lang="es-MX" dirty="0" err="1"/>
                  <a:t>framework</a:t>
                </a:r>
                <a:r>
                  <a:rPr lang="es-MX" dirty="0"/>
                  <a:t> Spring Boot para la gestión de componentes y capa de persistencia mediante Spring Data JPA y PostgreSQL. Para la renderización en tiempo real se implementó </a:t>
                </a:r>
                <a:r>
                  <a:rPr lang="es-MX" dirty="0" err="1"/>
                  <a:t>JavaFX</a:t>
                </a:r>
                <a:r>
                  <a:rPr lang="es-MX" dirty="0"/>
                  <a:t>, utilizando un lienzo dinámico (</a:t>
                </a:r>
                <a:r>
                  <a:rPr lang="es-MX" dirty="0" err="1"/>
                  <a:t>Canvas</a:t>
                </a:r>
                <a:r>
                  <a:rPr lang="es-MX" dirty="0"/>
                  <a:t>) de alta densidad </a:t>
                </a:r>
                <a14:m>
                  <m:oMath xmlns:m="http://schemas.openxmlformats.org/officeDocument/2006/math">
                    <m:r>
                      <a:rPr lang="es-MX">
                        <a:latin typeface="Cambria Math" panose="02040503050406030204" pitchFamily="18" charset="0"/>
                      </a:rPr>
                      <m:t>200×130</m:t>
                    </m:r>
                  </m:oMath>
                </a14:m>
                <a:r>
                  <a:rPr lang="es-MX" dirty="0"/>
                  <a:t>celdas. El sistema simula la dispersión de lava basada en algoritmos estocásticos y la evacuación de pobladores y fauna rural hacia zonas de seguridad.</a:t>
                </a:r>
              </a:p>
              <a:p>
                <a:endParaRPr lang="es-MX" dirty="0"/>
              </a:p>
            </p:txBody>
          </p:sp>
        </mc:Choice>
        <mc:Fallback xmlns="">
          <p:sp>
            <p:nvSpPr>
              <p:cNvPr id="3" name="Marcador de contenido 2">
                <a:extLst>
                  <a:ext uri="{FF2B5EF4-FFF2-40B4-BE49-F238E27FC236}">
                    <a16:creationId xmlns:a16="http://schemas.microsoft.com/office/drawing/2014/main" id="{00D273A0-B6D0-F6C7-B0CB-51CC4C432D05}"/>
                  </a:ext>
                </a:extLst>
              </p:cNvPr>
              <p:cNvSpPr>
                <a:spLocks noGrp="1" noRot="1" noChangeAspect="1" noMove="1" noResize="1" noEditPoints="1" noAdjustHandles="1" noChangeArrowheads="1" noChangeShapeType="1" noTextEdit="1"/>
              </p:cNvSpPr>
              <p:nvPr>
                <p:ph idx="1"/>
              </p:nvPr>
            </p:nvSpPr>
            <p:spPr>
              <a:blipFill>
                <a:blip r:embed="rId2"/>
                <a:stretch>
                  <a:fillRect l="-812" t="-2521" r="-870"/>
                </a:stretch>
              </a:blipFill>
            </p:spPr>
            <p:txBody>
              <a:bodyPr/>
              <a:lstStyle/>
              <a:p>
                <a:r>
                  <a:rPr lang="es-MX">
                    <a:noFill/>
                  </a:rPr>
                  <a:t> </a:t>
                </a:r>
              </a:p>
            </p:txBody>
          </p:sp>
        </mc:Fallback>
      </mc:AlternateContent>
    </p:spTree>
    <p:extLst>
      <p:ext uri="{BB962C8B-B14F-4D97-AF65-F5344CB8AC3E}">
        <p14:creationId xmlns:p14="http://schemas.microsoft.com/office/powerpoint/2010/main" val="24290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D0229B-06B0-6D18-8F8D-5FC50565C433}"/>
              </a:ext>
            </a:extLst>
          </p:cNvPr>
          <p:cNvSpPr>
            <a:spLocks noGrp="1"/>
          </p:cNvSpPr>
          <p:nvPr>
            <p:ph type="title"/>
          </p:nvPr>
        </p:nvSpPr>
        <p:spPr/>
        <p:txBody>
          <a:bodyPr/>
          <a:lstStyle/>
          <a:p>
            <a:pPr algn="ctr"/>
            <a:r>
              <a:rPr lang="es-MX" dirty="0"/>
              <a:t>JUSTIFICACION</a:t>
            </a:r>
          </a:p>
        </p:txBody>
      </p:sp>
      <p:sp>
        <p:nvSpPr>
          <p:cNvPr id="3" name="Marcador de contenido 2">
            <a:extLst>
              <a:ext uri="{FF2B5EF4-FFF2-40B4-BE49-F238E27FC236}">
                <a16:creationId xmlns:a16="http://schemas.microsoft.com/office/drawing/2014/main" id="{08E55725-3D6D-739B-E2C7-FE5C7CD9A002}"/>
              </a:ext>
            </a:extLst>
          </p:cNvPr>
          <p:cNvSpPr>
            <a:spLocks noGrp="1"/>
          </p:cNvSpPr>
          <p:nvPr>
            <p:ph idx="1"/>
          </p:nvPr>
        </p:nvSpPr>
        <p:spPr/>
        <p:txBody>
          <a:bodyPr>
            <a:normAutofit fontScale="92500" lnSpcReduction="10000"/>
          </a:bodyPr>
          <a:lstStyle/>
          <a:p>
            <a:pPr algn="just"/>
            <a:r>
              <a:rPr lang="es-MX" dirty="0"/>
              <a:t>El cambio de arquitecturas estáticas basadas en archivos locales (como CSV o bases de datos en memoria como H2) hacia esquemas de bases de datos relacionales robustas responde a la necesidad de garantizar la integridad, persistencia y escalabilidad de los modelos de simulación.</a:t>
            </a:r>
          </a:p>
          <a:p>
            <a:pPr algn="just"/>
            <a:r>
              <a:rPr lang="es-MX" dirty="0"/>
              <a:t>La integración de </a:t>
            </a:r>
            <a:r>
              <a:rPr lang="es-MX" b="1" dirty="0"/>
              <a:t>PostgreSQL</a:t>
            </a:r>
            <a:r>
              <a:rPr lang="es-MX" dirty="0"/>
              <a:t> administrado vía </a:t>
            </a:r>
            <a:r>
              <a:rPr lang="es-MX" b="1" dirty="0"/>
              <a:t>Spring Data JPA</a:t>
            </a:r>
            <a:r>
              <a:rPr lang="es-MX" dirty="0"/>
              <a:t> permite abstraer el manejo manual de sentencias SQL y automatizar la creación del esquema estructural (DDL) de las tablas </a:t>
            </a:r>
            <a:r>
              <a:rPr lang="es-MX" dirty="0" err="1"/>
              <a:t>dataset_poblacion</a:t>
            </a:r>
            <a:r>
              <a:rPr lang="es-MX" dirty="0"/>
              <a:t> y </a:t>
            </a:r>
            <a:r>
              <a:rPr lang="es-MX" dirty="0" err="1"/>
              <a:t>registros_volcan</a:t>
            </a:r>
            <a:r>
              <a:rPr lang="es-MX" dirty="0"/>
              <a:t>. Además, la separación de responsabilidades mediante el patrón Modelo-Vista-Controlador (MVC) y el contenedor de Inyección de Dependencias de Spring garantiza un código mantenible, modular y preparado para el procesamiento de simulaciones de mayor escala.</a:t>
            </a:r>
          </a:p>
          <a:p>
            <a:pPr algn="just"/>
            <a:endParaRPr lang="es-MX" dirty="0"/>
          </a:p>
        </p:txBody>
      </p:sp>
    </p:spTree>
    <p:extLst>
      <p:ext uri="{BB962C8B-B14F-4D97-AF65-F5344CB8AC3E}">
        <p14:creationId xmlns:p14="http://schemas.microsoft.com/office/powerpoint/2010/main" val="1798088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8E991-ECC7-C5AB-E2EC-841BDF556CB2}"/>
              </a:ext>
            </a:extLst>
          </p:cNvPr>
          <p:cNvSpPr>
            <a:spLocks noGrp="1"/>
          </p:cNvSpPr>
          <p:nvPr>
            <p:ph type="title"/>
          </p:nvPr>
        </p:nvSpPr>
        <p:spPr>
          <a:xfrm>
            <a:off x="793662" y="386930"/>
            <a:ext cx="10066122" cy="1298448"/>
          </a:xfrm>
        </p:spPr>
        <p:txBody>
          <a:bodyPr anchor="b">
            <a:normAutofit fontScale="90000"/>
          </a:bodyPr>
          <a:lstStyle/>
          <a:p>
            <a:r>
              <a:rPr lang="es-MX" sz="4800" b="1" dirty="0"/>
              <a:t>Paso 1: Configuración del Entorno y Dependencias (pom.xml)</a:t>
            </a:r>
            <a:endParaRPr lang="es-MX" sz="4800" dirty="0"/>
          </a:p>
        </p:txBody>
      </p:sp>
      <p:sp>
        <p:nvSpPr>
          <p:cNvPr id="3" name="Marcador de contenido 2">
            <a:extLst>
              <a:ext uri="{FF2B5EF4-FFF2-40B4-BE49-F238E27FC236}">
                <a16:creationId xmlns:a16="http://schemas.microsoft.com/office/drawing/2014/main" id="{98A11A52-DD31-6733-0800-374508F28BE6}"/>
              </a:ext>
            </a:extLst>
          </p:cNvPr>
          <p:cNvSpPr>
            <a:spLocks noGrp="1"/>
          </p:cNvSpPr>
          <p:nvPr>
            <p:ph idx="1"/>
          </p:nvPr>
        </p:nvSpPr>
        <p:spPr>
          <a:xfrm>
            <a:off x="793661" y="2599509"/>
            <a:ext cx="4530898" cy="3639450"/>
          </a:xfrm>
        </p:spPr>
        <p:txBody>
          <a:bodyPr anchor="ctr">
            <a:normAutofit/>
          </a:bodyPr>
          <a:lstStyle/>
          <a:p>
            <a:r>
              <a:rPr lang="es-MX" sz="2000" dirty="0"/>
              <a:t>Se estructuró el proyecto Maven bajo Java 21 y Spring Boot 3.2.0, integrando los módulos gráficos de </a:t>
            </a:r>
            <a:r>
              <a:rPr lang="es-MX" sz="2000" dirty="0" err="1"/>
              <a:t>JavaFX</a:t>
            </a:r>
            <a:r>
              <a:rPr lang="es-MX" sz="2000" dirty="0"/>
              <a:t> y el conector relacional para PostgreSQL.</a:t>
            </a:r>
          </a:p>
          <a:p>
            <a:endParaRPr lang="es-MX" sz="2000" dirty="0"/>
          </a:p>
        </p:txBody>
      </p:sp>
      <p:pic>
        <p:nvPicPr>
          <p:cNvPr id="5" name="Imagen 4">
            <a:extLst>
              <a:ext uri="{FF2B5EF4-FFF2-40B4-BE49-F238E27FC236}">
                <a16:creationId xmlns:a16="http://schemas.microsoft.com/office/drawing/2014/main" id="{7EFBA66C-638A-15B3-6BEA-A8C865400AC9}"/>
              </a:ext>
            </a:extLst>
          </p:cNvPr>
          <p:cNvPicPr>
            <a:picLocks noChangeAspect="1"/>
          </p:cNvPicPr>
          <p:nvPr/>
        </p:nvPicPr>
        <p:blipFill>
          <a:blip r:embed="rId2"/>
          <a:stretch>
            <a:fillRect/>
          </a:stretch>
        </p:blipFill>
        <p:spPr>
          <a:xfrm>
            <a:off x="5911532" y="2892861"/>
            <a:ext cx="5150277" cy="2897031"/>
          </a:xfrm>
          <a:prstGeom prst="rect">
            <a:avLst/>
          </a:prstGeom>
        </p:spPr>
      </p:pic>
    </p:spTree>
    <p:extLst>
      <p:ext uri="{BB962C8B-B14F-4D97-AF65-F5344CB8AC3E}">
        <p14:creationId xmlns:p14="http://schemas.microsoft.com/office/powerpoint/2010/main" val="2764988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BE934-B2A4-2BB3-C3D2-5AE80A5DD95E}"/>
              </a:ext>
            </a:extLst>
          </p:cNvPr>
          <p:cNvSpPr>
            <a:spLocks noGrp="1"/>
          </p:cNvSpPr>
          <p:nvPr>
            <p:ph type="title"/>
          </p:nvPr>
        </p:nvSpPr>
        <p:spPr>
          <a:xfrm>
            <a:off x="793662" y="386930"/>
            <a:ext cx="10066122" cy="1298448"/>
          </a:xfrm>
        </p:spPr>
        <p:txBody>
          <a:bodyPr anchor="b">
            <a:normAutofit/>
          </a:bodyPr>
          <a:lstStyle/>
          <a:p>
            <a:r>
              <a:rPr lang="es-MX" sz="4100" b="1"/>
              <a:t>Paso 2: Modularización del Sistema (module-info.java)</a:t>
            </a:r>
            <a:endParaRPr lang="es-MX" sz="4100"/>
          </a:p>
        </p:txBody>
      </p:sp>
      <p:sp>
        <p:nvSpPr>
          <p:cNvPr id="3" name="Marcador de contenido 2">
            <a:extLst>
              <a:ext uri="{FF2B5EF4-FFF2-40B4-BE49-F238E27FC236}">
                <a16:creationId xmlns:a16="http://schemas.microsoft.com/office/drawing/2014/main" id="{220AE882-F4A0-44E4-FAF2-FEEAD05CD113}"/>
              </a:ext>
            </a:extLst>
          </p:cNvPr>
          <p:cNvSpPr>
            <a:spLocks noGrp="1"/>
          </p:cNvSpPr>
          <p:nvPr>
            <p:ph idx="1"/>
          </p:nvPr>
        </p:nvSpPr>
        <p:spPr>
          <a:xfrm>
            <a:off x="793661" y="2599509"/>
            <a:ext cx="4530898" cy="3639450"/>
          </a:xfrm>
        </p:spPr>
        <p:txBody>
          <a:bodyPr anchor="ctr">
            <a:normAutofit/>
          </a:bodyPr>
          <a:lstStyle/>
          <a:p>
            <a:r>
              <a:rPr lang="es-MX" sz="2000"/>
              <a:t>Para garantizar la compatibilidad con el sistema de módulos de Java (JPMS) y permitir que Spring realice inyección de dependencias (@Autowired) por reflexión en controladores y servicios, se configuraron las aperturas y exportaciones requeridas:</a:t>
            </a:r>
            <a:endParaRPr lang="es-MX" sz="2000">
              <a:effectLst/>
            </a:endParaRPr>
          </a:p>
          <a:p>
            <a:endParaRPr lang="es-MX" sz="2000"/>
          </a:p>
        </p:txBody>
      </p:sp>
      <p:pic>
        <p:nvPicPr>
          <p:cNvPr id="5" name="Imagen 4">
            <a:extLst>
              <a:ext uri="{FF2B5EF4-FFF2-40B4-BE49-F238E27FC236}">
                <a16:creationId xmlns:a16="http://schemas.microsoft.com/office/drawing/2014/main" id="{86468ED4-7F0F-85B3-8D8F-DACAED13F6A6}"/>
              </a:ext>
            </a:extLst>
          </p:cNvPr>
          <p:cNvPicPr>
            <a:picLocks noChangeAspect="1"/>
          </p:cNvPicPr>
          <p:nvPr/>
        </p:nvPicPr>
        <p:blipFill>
          <a:blip r:embed="rId2"/>
          <a:srcRect l="5473" r="16530"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461949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B12A70-1352-C568-D244-4B62D0F289EE}"/>
              </a:ext>
            </a:extLst>
          </p:cNvPr>
          <p:cNvSpPr>
            <a:spLocks noGrp="1"/>
          </p:cNvSpPr>
          <p:nvPr>
            <p:ph type="title"/>
          </p:nvPr>
        </p:nvSpPr>
        <p:spPr>
          <a:xfrm>
            <a:off x="793662" y="386930"/>
            <a:ext cx="10066122" cy="1298448"/>
          </a:xfrm>
        </p:spPr>
        <p:txBody>
          <a:bodyPr anchor="b">
            <a:normAutofit/>
          </a:bodyPr>
          <a:lstStyle/>
          <a:p>
            <a:r>
              <a:rPr lang="es-MX" sz="4100" b="1"/>
              <a:t>Paso 3: Configuración de Conexión a Base de Datos (application.properties)</a:t>
            </a:r>
            <a:endParaRPr lang="es-MX" sz="4100"/>
          </a:p>
        </p:txBody>
      </p:sp>
      <p:sp>
        <p:nvSpPr>
          <p:cNvPr id="3" name="Marcador de contenido 2">
            <a:extLst>
              <a:ext uri="{FF2B5EF4-FFF2-40B4-BE49-F238E27FC236}">
                <a16:creationId xmlns:a16="http://schemas.microsoft.com/office/drawing/2014/main" id="{C6B77AED-91DC-7240-C132-3F9FC542D5D5}"/>
              </a:ext>
            </a:extLst>
          </p:cNvPr>
          <p:cNvSpPr>
            <a:spLocks noGrp="1"/>
          </p:cNvSpPr>
          <p:nvPr>
            <p:ph idx="1"/>
          </p:nvPr>
        </p:nvSpPr>
        <p:spPr>
          <a:xfrm>
            <a:off x="793661" y="2599509"/>
            <a:ext cx="4530898" cy="3639450"/>
          </a:xfrm>
        </p:spPr>
        <p:txBody>
          <a:bodyPr anchor="ctr">
            <a:normAutofit/>
          </a:bodyPr>
          <a:lstStyle/>
          <a:p>
            <a:r>
              <a:rPr lang="es-MX" sz="2000"/>
              <a:t>Se configuró el acceso a la base de datos simulacion_volcan_db permitiendo a Hibernate gestionar la creación y actualización automática de las tablas (ddl-auto=update):</a:t>
            </a:r>
          </a:p>
          <a:p>
            <a:endParaRPr lang="es-MX" sz="2000"/>
          </a:p>
        </p:txBody>
      </p:sp>
      <p:pic>
        <p:nvPicPr>
          <p:cNvPr id="5" name="Imagen 4">
            <a:extLst>
              <a:ext uri="{FF2B5EF4-FFF2-40B4-BE49-F238E27FC236}">
                <a16:creationId xmlns:a16="http://schemas.microsoft.com/office/drawing/2014/main" id="{499EAE9A-EE98-E8F8-8CB0-0E1DF6E48D7D}"/>
              </a:ext>
            </a:extLst>
          </p:cNvPr>
          <p:cNvPicPr>
            <a:picLocks noChangeAspect="1"/>
          </p:cNvPicPr>
          <p:nvPr/>
        </p:nvPicPr>
        <p:blipFill>
          <a:blip r:embed="rId2"/>
          <a:srcRect r="22003"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181792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0A197-1DF6-F653-395F-6351EF197F2F}"/>
              </a:ext>
            </a:extLst>
          </p:cNvPr>
          <p:cNvSpPr>
            <a:spLocks noGrp="1"/>
          </p:cNvSpPr>
          <p:nvPr>
            <p:ph type="title"/>
          </p:nvPr>
        </p:nvSpPr>
        <p:spPr>
          <a:xfrm>
            <a:off x="793662" y="386930"/>
            <a:ext cx="10066122" cy="1298448"/>
          </a:xfrm>
        </p:spPr>
        <p:txBody>
          <a:bodyPr anchor="b">
            <a:normAutofit/>
          </a:bodyPr>
          <a:lstStyle/>
          <a:p>
            <a:r>
              <a:rPr lang="es-MX" sz="4100" b="1"/>
              <a:t>Paso 4: Creación de Entidades JPA y Repositorios</a:t>
            </a:r>
            <a:endParaRPr lang="es-MX" sz="410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0B38D7A-330A-9919-61CC-E9604EE9D6B0}"/>
                  </a:ext>
                </a:extLst>
              </p:cNvPr>
              <p:cNvSpPr>
                <a:spLocks noGrp="1"/>
              </p:cNvSpPr>
              <p:nvPr>
                <p:ph idx="1"/>
              </p:nvPr>
            </p:nvSpPr>
            <p:spPr>
              <a:xfrm>
                <a:off x="793661" y="2599509"/>
                <a:ext cx="4530898" cy="3639450"/>
              </a:xfrm>
            </p:spPr>
            <p:txBody>
              <a:bodyPr anchor="ctr">
                <a:normAutofit/>
              </a:bodyPr>
              <a:lstStyle/>
              <a:p>
                <a:r>
                  <a:rPr lang="es-MX" sz="2000"/>
                  <a:t>Se diseñó la entidad DatasetPoblacion para representar la ubicación espacial (</a:t>
                </a:r>
                <a14:m>
                  <m:oMath xmlns:m="http://schemas.openxmlformats.org/officeDocument/2006/math">
                    <m:r>
                      <a:rPr lang="es-MX" sz="2000" i="1">
                        <a:latin typeface="Cambria Math" panose="02040503050406030204" pitchFamily="18" charset="0"/>
                      </a:rPr>
                      <m:t>𝑟</m:t>
                    </m:r>
                    <m:r>
                      <a:rPr lang="es-MX" sz="2000">
                        <a:latin typeface="Cambria Math" panose="02040503050406030204" pitchFamily="18" charset="0"/>
                      </a:rPr>
                      <m:t>,</m:t>
                    </m:r>
                    <m:r>
                      <a:rPr lang="es-MX" sz="2000" i="1">
                        <a:latin typeface="Cambria Math" panose="02040503050406030204" pitchFamily="18" charset="0"/>
                      </a:rPr>
                      <m:t>𝑐</m:t>
                    </m:r>
                  </m:oMath>
                </a14:m>
                <a:r>
                  <a:rPr lang="es-MX" sz="2000"/>
                  <a:t>) de infraestructuras y seres vivos:</a:t>
                </a:r>
              </a:p>
              <a:p>
                <a:endParaRPr lang="es-MX" sz="2000"/>
              </a:p>
            </p:txBody>
          </p:sp>
        </mc:Choice>
        <mc:Fallback xmlns="">
          <p:sp>
            <p:nvSpPr>
              <p:cNvPr id="3" name="Marcador de contenido 2">
                <a:extLst>
                  <a:ext uri="{FF2B5EF4-FFF2-40B4-BE49-F238E27FC236}">
                    <a16:creationId xmlns:a16="http://schemas.microsoft.com/office/drawing/2014/main" id="{10B38D7A-330A-9919-61CC-E9604EE9D6B0}"/>
                  </a:ext>
                </a:extLst>
              </p:cNvPr>
              <p:cNvSpPr>
                <a:spLocks noGrp="1" noRot="1" noChangeAspect="1" noMove="1" noResize="1" noEditPoints="1" noAdjustHandles="1" noChangeArrowheads="1" noChangeShapeType="1" noTextEdit="1"/>
              </p:cNvSpPr>
              <p:nvPr>
                <p:ph idx="1"/>
              </p:nvPr>
            </p:nvSpPr>
            <p:spPr>
              <a:xfrm>
                <a:off x="793661" y="2599509"/>
                <a:ext cx="4530898" cy="3639450"/>
              </a:xfrm>
              <a:blipFill>
                <a:blip r:embed="rId2"/>
                <a:stretch>
                  <a:fillRect l="-1211" r="-1884"/>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id="{F3826FE1-8D80-3654-48DF-3B8A4A811AD1}"/>
              </a:ext>
            </a:extLst>
          </p:cNvPr>
          <p:cNvPicPr>
            <a:picLocks noChangeAspect="1"/>
          </p:cNvPicPr>
          <p:nvPr/>
        </p:nvPicPr>
        <p:blipFill>
          <a:blip r:embed="rId3"/>
          <a:srcRect l="3084" r="18919"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3301398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8BDC70-7CF5-2FCC-828B-71D0BFC79F06}"/>
              </a:ext>
            </a:extLst>
          </p:cNvPr>
          <p:cNvSpPr>
            <a:spLocks noGrp="1"/>
          </p:cNvSpPr>
          <p:nvPr>
            <p:ph type="title"/>
          </p:nvPr>
        </p:nvSpPr>
        <p:spPr>
          <a:xfrm>
            <a:off x="793662" y="386930"/>
            <a:ext cx="10066122" cy="1298448"/>
          </a:xfrm>
        </p:spPr>
        <p:txBody>
          <a:bodyPr anchor="b">
            <a:normAutofit/>
          </a:bodyPr>
          <a:lstStyle/>
          <a:p>
            <a:r>
              <a:rPr lang="es-MX" sz="4100" b="1"/>
              <a:t>Paso 5: Poblamiento Automático Inicial (DatasetService.java)</a:t>
            </a:r>
            <a:endParaRPr lang="es-MX" sz="4100"/>
          </a:p>
        </p:txBody>
      </p:sp>
      <p:sp>
        <p:nvSpPr>
          <p:cNvPr id="3" name="Marcador de contenido 2">
            <a:extLst>
              <a:ext uri="{FF2B5EF4-FFF2-40B4-BE49-F238E27FC236}">
                <a16:creationId xmlns:a16="http://schemas.microsoft.com/office/drawing/2014/main" id="{03A680A8-67A4-8B38-852B-8CF01EB000A9}"/>
              </a:ext>
            </a:extLst>
          </p:cNvPr>
          <p:cNvSpPr>
            <a:spLocks noGrp="1"/>
          </p:cNvSpPr>
          <p:nvPr>
            <p:ph idx="1"/>
          </p:nvPr>
        </p:nvSpPr>
        <p:spPr>
          <a:xfrm>
            <a:off x="793661" y="2599509"/>
            <a:ext cx="4530898" cy="3639450"/>
          </a:xfrm>
        </p:spPr>
        <p:txBody>
          <a:bodyPr anchor="ctr">
            <a:normAutofit/>
          </a:bodyPr>
          <a:lstStyle/>
          <a:p>
            <a:r>
              <a:rPr lang="es-MX" sz="2000"/>
              <a:t>Mediante la interfaz CommandLineRunner, el sistema verifica al arrancar si la base de datos cuenta con registros; en caso contrario, inserta la configuración geográfica base:</a:t>
            </a:r>
          </a:p>
          <a:p>
            <a:endParaRPr lang="es-MX" sz="2000"/>
          </a:p>
        </p:txBody>
      </p:sp>
      <p:pic>
        <p:nvPicPr>
          <p:cNvPr id="5" name="Imagen 4">
            <a:extLst>
              <a:ext uri="{FF2B5EF4-FFF2-40B4-BE49-F238E27FC236}">
                <a16:creationId xmlns:a16="http://schemas.microsoft.com/office/drawing/2014/main" id="{1CAE8850-93EE-3BD3-4366-67ABA71793B6}"/>
              </a:ext>
            </a:extLst>
          </p:cNvPr>
          <p:cNvPicPr>
            <a:picLocks noChangeAspect="1"/>
          </p:cNvPicPr>
          <p:nvPr/>
        </p:nvPicPr>
        <p:blipFill>
          <a:blip r:embed="rId2"/>
          <a:srcRect r="22003"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3668278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00DDF3-3379-1FD1-E91A-B84B021F64E8}"/>
              </a:ext>
            </a:extLst>
          </p:cNvPr>
          <p:cNvSpPr>
            <a:spLocks noGrp="1"/>
          </p:cNvSpPr>
          <p:nvPr>
            <p:ph type="title"/>
          </p:nvPr>
        </p:nvSpPr>
        <p:spPr>
          <a:xfrm>
            <a:off x="793662" y="386930"/>
            <a:ext cx="10066122" cy="1298448"/>
          </a:xfrm>
        </p:spPr>
        <p:txBody>
          <a:bodyPr anchor="b">
            <a:normAutofit/>
          </a:bodyPr>
          <a:lstStyle/>
          <a:p>
            <a:r>
              <a:rPr lang="es-MX" sz="4100" b="1"/>
              <a:t>Paso 6: Motor Eruptivo y Lógica de Evacuación (ErupcionService.java)</a:t>
            </a:r>
            <a:endParaRPr lang="es-MX" sz="410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BE5F675-8A3B-84ED-B3EF-E01971F7E798}"/>
                  </a:ext>
                </a:extLst>
              </p:cNvPr>
              <p:cNvSpPr>
                <a:spLocks noGrp="1"/>
              </p:cNvSpPr>
              <p:nvPr>
                <p:ph idx="1"/>
              </p:nvPr>
            </p:nvSpPr>
            <p:spPr>
              <a:xfrm>
                <a:off x="793661" y="2599509"/>
                <a:ext cx="4530898" cy="3639450"/>
              </a:xfrm>
            </p:spPr>
            <p:txBody>
              <a:bodyPr anchor="ctr">
                <a:normAutofit/>
              </a:bodyPr>
              <a:lstStyle/>
              <a:p>
                <a:r>
                  <a:rPr lang="es-MX" sz="2000"/>
                  <a:t>Se implementó un autómata celular estocástico sobre una matriz de </a:t>
                </a:r>
                <a14:m>
                  <m:oMath xmlns:m="http://schemas.openxmlformats.org/officeDocument/2006/math">
                    <m:r>
                      <a:rPr lang="es-MX" sz="2000">
                        <a:latin typeface="Cambria Math" panose="02040503050406030204" pitchFamily="18" charset="0"/>
                      </a:rPr>
                      <m:t>130×200</m:t>
                    </m:r>
                  </m:oMath>
                </a14:m>
                <a:r>
                  <a:rPr lang="es-MX" sz="2000"/>
                  <a:t>. En cada ciclo:</a:t>
                </a:r>
              </a:p>
              <a:p>
                <a:pPr lvl="0"/>
                <a:r>
                  <a:rPr lang="es-MX" sz="2000"/>
                  <a:t>La lava desciende acumulando probabilidad de expansión según pendientes, cauces de barrancas y velocidad parametrizada (km/h).</a:t>
                </a:r>
              </a:p>
              <a:p>
                <a:pPr lvl="0"/>
                <a:r>
                  <a:rPr lang="es-MX" sz="2000"/>
                  <a:t>La población desplaza sus posiciones buscando la periferia exterior de la retícula para contabilizar evacuaciones exitosas.</a:t>
                </a:r>
              </a:p>
              <a:p>
                <a:endParaRPr lang="es-MX" sz="2000"/>
              </a:p>
            </p:txBody>
          </p:sp>
        </mc:Choice>
        <mc:Fallback xmlns="">
          <p:sp>
            <p:nvSpPr>
              <p:cNvPr id="3" name="Marcador de contenido 2">
                <a:extLst>
                  <a:ext uri="{FF2B5EF4-FFF2-40B4-BE49-F238E27FC236}">
                    <a16:creationId xmlns:a16="http://schemas.microsoft.com/office/drawing/2014/main" id="{1BE5F675-8A3B-84ED-B3EF-E01971F7E798}"/>
                  </a:ext>
                </a:extLst>
              </p:cNvPr>
              <p:cNvSpPr>
                <a:spLocks noGrp="1" noRot="1" noChangeAspect="1" noMove="1" noResize="1" noEditPoints="1" noAdjustHandles="1" noChangeArrowheads="1" noChangeShapeType="1" noTextEdit="1"/>
              </p:cNvSpPr>
              <p:nvPr>
                <p:ph idx="1"/>
              </p:nvPr>
            </p:nvSpPr>
            <p:spPr>
              <a:xfrm>
                <a:off x="793661" y="2599509"/>
                <a:ext cx="4530898" cy="3639450"/>
              </a:xfrm>
              <a:blipFill>
                <a:blip r:embed="rId2"/>
                <a:stretch>
                  <a:fillRect l="-1211" t="-3183"/>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id="{2E2DB1B0-CCB2-199C-1343-6847BE257A1A}"/>
              </a:ext>
            </a:extLst>
          </p:cNvPr>
          <p:cNvPicPr>
            <a:picLocks noChangeAspect="1"/>
          </p:cNvPicPr>
          <p:nvPr/>
        </p:nvPicPr>
        <p:blipFill>
          <a:blip r:embed="rId3"/>
          <a:srcRect l="5503" r="16501"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1771937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873B4-599F-5932-ADE5-B00B6F49D1CA}"/>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sz="5600" b="1" kern="1200">
                <a:solidFill>
                  <a:schemeClr val="tx1"/>
                </a:solidFill>
                <a:latin typeface="+mj-lt"/>
                <a:ea typeface="+mj-ea"/>
                <a:cs typeface="+mj-cs"/>
              </a:rPr>
              <a:t>Paso 7: Diseño de la Interfaz y Renderizado Gráfico</a:t>
            </a:r>
            <a:endParaRPr lang="en-US" sz="5600" kern="1200">
              <a:solidFill>
                <a:schemeClr val="tx1"/>
              </a:solidFill>
              <a:latin typeface="+mj-lt"/>
              <a:ea typeface="+mj-ea"/>
              <a:cs typeface="+mj-cs"/>
            </a:endParaRPr>
          </a:p>
        </p:txBody>
      </p:sp>
    </p:spTree>
    <p:extLst>
      <p:ext uri="{BB962C8B-B14F-4D97-AF65-F5344CB8AC3E}">
        <p14:creationId xmlns:p14="http://schemas.microsoft.com/office/powerpoint/2010/main" val="3656360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7E7AE-C7F4-7048-3CE3-93D4E1B86989}"/>
              </a:ext>
            </a:extLst>
          </p:cNvPr>
          <p:cNvSpPr>
            <a:spLocks noGrp="1"/>
          </p:cNvSpPr>
          <p:nvPr>
            <p:ph type="title"/>
          </p:nvPr>
        </p:nvSpPr>
        <p:spPr>
          <a:xfrm>
            <a:off x="793662" y="386930"/>
            <a:ext cx="10066122" cy="1298448"/>
          </a:xfrm>
        </p:spPr>
        <p:txBody>
          <a:bodyPr anchor="b">
            <a:normAutofit/>
          </a:bodyPr>
          <a:lstStyle/>
          <a:p>
            <a:r>
              <a:rPr lang="es-MX" sz="4100" b="1"/>
              <a:t>Paso 7.1: Definición de la Vista FXML (view.fxml)</a:t>
            </a:r>
            <a:endParaRPr lang="es-MX" sz="4100"/>
          </a:p>
        </p:txBody>
      </p:sp>
      <p:sp>
        <p:nvSpPr>
          <p:cNvPr id="3" name="Marcador de contenido 2">
            <a:extLst>
              <a:ext uri="{FF2B5EF4-FFF2-40B4-BE49-F238E27FC236}">
                <a16:creationId xmlns:a16="http://schemas.microsoft.com/office/drawing/2014/main" id="{F363B513-9D02-BD37-ACC1-34F20A3D4793}"/>
              </a:ext>
            </a:extLst>
          </p:cNvPr>
          <p:cNvSpPr>
            <a:spLocks noGrp="1"/>
          </p:cNvSpPr>
          <p:nvPr>
            <p:ph idx="1"/>
          </p:nvPr>
        </p:nvSpPr>
        <p:spPr>
          <a:xfrm>
            <a:off x="793661" y="2599509"/>
            <a:ext cx="4530898" cy="3639450"/>
          </a:xfrm>
        </p:spPr>
        <p:txBody>
          <a:bodyPr anchor="ctr">
            <a:normAutofit/>
          </a:bodyPr>
          <a:lstStyle/>
          <a:p>
            <a:r>
              <a:rPr lang="es-MX" sz="1400"/>
              <a:t>Se estructuró la interfaz de usuario utilizando BorderPane para organizar los componentes visuales:</a:t>
            </a:r>
          </a:p>
          <a:p>
            <a:pPr lvl="0"/>
            <a:r>
              <a:rPr lang="es-MX" sz="1400" b="1"/>
              <a:t>Panel Superior (top):</a:t>
            </a:r>
            <a:r>
              <a:rPr lang="es-MX" sz="1400"/>
              <a:t> Contiene los controles de inicio/pausa (btnAuto), avance manual de pasos y reinicio, así como los campos de texto (TextField) para parametrizar la cantidad de personas, ganado, fauna y velocidad de la lava en km/h.</a:t>
            </a:r>
          </a:p>
          <a:p>
            <a:pPr lvl="0"/>
            <a:r>
              <a:rPr lang="es-MX" sz="1400" b="1"/>
              <a:t>Panel Central (center):</a:t>
            </a:r>
            <a:r>
              <a:rPr lang="es-MX" sz="1400"/>
              <a:t> Aloja un contenedor Pane independiente donde se ubica el componente Canvas responsable del dibujo vectorial.</a:t>
            </a:r>
          </a:p>
          <a:p>
            <a:pPr lvl="0"/>
            <a:r>
              <a:rPr lang="es-MX" sz="1400" b="1"/>
              <a:t>Panel Inferior (bottom):</a:t>
            </a:r>
            <a:r>
              <a:rPr lang="es-MX" sz="1400"/>
              <a:t> Integra una tabla TableView asociada a la entidad RegistroVolcan para mostrar el historial en tiempo real de cada paso eruptivo.</a:t>
            </a:r>
          </a:p>
          <a:p>
            <a:endParaRPr lang="es-MX" sz="1400"/>
          </a:p>
        </p:txBody>
      </p:sp>
      <p:pic>
        <p:nvPicPr>
          <p:cNvPr id="5" name="Imagen 4">
            <a:extLst>
              <a:ext uri="{FF2B5EF4-FFF2-40B4-BE49-F238E27FC236}">
                <a16:creationId xmlns:a16="http://schemas.microsoft.com/office/drawing/2014/main" id="{4BBD9E53-DA79-56C5-01E9-D5EEA9F79AE0}"/>
              </a:ext>
            </a:extLst>
          </p:cNvPr>
          <p:cNvPicPr>
            <a:picLocks noChangeAspect="1"/>
          </p:cNvPicPr>
          <p:nvPr/>
        </p:nvPicPr>
        <p:blipFill>
          <a:blip r:embed="rId2"/>
          <a:srcRect r="22003"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187421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F4CEA-0E2E-37F3-D82E-F3DD9319B9FF}"/>
              </a:ext>
            </a:extLst>
          </p:cNvPr>
          <p:cNvSpPr>
            <a:spLocks noGrp="1"/>
          </p:cNvSpPr>
          <p:nvPr>
            <p:ph type="title"/>
          </p:nvPr>
        </p:nvSpPr>
        <p:spPr>
          <a:xfrm>
            <a:off x="793662" y="386930"/>
            <a:ext cx="10066122" cy="1298448"/>
          </a:xfrm>
        </p:spPr>
        <p:txBody>
          <a:bodyPr anchor="b">
            <a:normAutofit/>
          </a:bodyPr>
          <a:lstStyle/>
          <a:p>
            <a:r>
              <a:rPr lang="es-MX" sz="4100" b="1"/>
              <a:t>Paso 7.2: Configuración del Renderizado Responsivo</a:t>
            </a:r>
            <a:endParaRPr lang="es-MX" sz="4100"/>
          </a:p>
        </p:txBody>
      </p:sp>
      <p:sp>
        <p:nvSpPr>
          <p:cNvPr id="3" name="Marcador de contenido 2">
            <a:extLst>
              <a:ext uri="{FF2B5EF4-FFF2-40B4-BE49-F238E27FC236}">
                <a16:creationId xmlns:a16="http://schemas.microsoft.com/office/drawing/2014/main" id="{D829DB24-AEF4-0363-BCB0-5A4E8F4C4933}"/>
              </a:ext>
            </a:extLst>
          </p:cNvPr>
          <p:cNvSpPr>
            <a:spLocks noGrp="1"/>
          </p:cNvSpPr>
          <p:nvPr>
            <p:ph idx="1"/>
          </p:nvPr>
        </p:nvSpPr>
        <p:spPr>
          <a:xfrm>
            <a:off x="793661" y="2599509"/>
            <a:ext cx="4530898" cy="3639450"/>
          </a:xfrm>
        </p:spPr>
        <p:txBody>
          <a:bodyPr anchor="ctr">
            <a:normAutofit/>
          </a:bodyPr>
          <a:lstStyle/>
          <a:p>
            <a:r>
              <a:rPr lang="es-MX" sz="2000"/>
              <a:t>Para evitar que el mapa del volcán o la ciudad se recorten al cambiar el tamaño de la ventana, en el método initialize() de VolcanController se enlazaron dinámicamente las dimensiones del Canvas con su contenedor principal Pane:</a:t>
            </a:r>
          </a:p>
          <a:p>
            <a:endParaRPr lang="es-MX" sz="2000"/>
          </a:p>
        </p:txBody>
      </p:sp>
      <p:pic>
        <p:nvPicPr>
          <p:cNvPr id="5" name="Imagen 4">
            <a:extLst>
              <a:ext uri="{FF2B5EF4-FFF2-40B4-BE49-F238E27FC236}">
                <a16:creationId xmlns:a16="http://schemas.microsoft.com/office/drawing/2014/main" id="{91204EED-6F1D-0915-B226-291DFC9C6FAC}"/>
              </a:ext>
            </a:extLst>
          </p:cNvPr>
          <p:cNvPicPr>
            <a:picLocks noChangeAspect="1"/>
          </p:cNvPicPr>
          <p:nvPr/>
        </p:nvPicPr>
        <p:blipFill>
          <a:blip r:embed="rId2"/>
          <a:srcRect l="947" r="21057" b="2"/>
          <a:stretch>
            <a:fillRect/>
          </a:stretch>
        </p:blipFill>
        <p:spPr>
          <a:xfrm>
            <a:off x="5911532" y="2484255"/>
            <a:ext cx="5150277" cy="3714244"/>
          </a:xfrm>
          <a:prstGeom prst="rect">
            <a:avLst/>
          </a:prstGeom>
        </p:spPr>
      </p:pic>
    </p:spTree>
    <p:extLst>
      <p:ext uri="{BB962C8B-B14F-4D97-AF65-F5344CB8AC3E}">
        <p14:creationId xmlns:p14="http://schemas.microsoft.com/office/powerpoint/2010/main" val="384741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16090DE0-DB10-09B0-52EE-1F98EE6866F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s-MX" sz="7200" dirty="0"/>
              <a:t>Gestión y Verificación en PostgreSQL con </a:t>
            </a:r>
            <a:r>
              <a:rPr lang="es-MX" sz="7200" dirty="0" err="1"/>
              <a:t>pgAdmin</a:t>
            </a:r>
            <a:endParaRPr lang="en-US" sz="7200" kern="1200" dirty="0">
              <a:solidFill>
                <a:schemeClr val="tx1"/>
              </a:solidFill>
              <a:latin typeface="+mj-lt"/>
              <a:ea typeface="+mj-ea"/>
              <a:cs typeface="+mj-cs"/>
            </a:endParaRPr>
          </a:p>
        </p:txBody>
      </p:sp>
    </p:spTree>
    <p:extLst>
      <p:ext uri="{BB962C8B-B14F-4D97-AF65-F5344CB8AC3E}">
        <p14:creationId xmlns:p14="http://schemas.microsoft.com/office/powerpoint/2010/main" val="495913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DF9648-ADAD-00D2-329E-CA294F529CC8}"/>
              </a:ext>
            </a:extLst>
          </p:cNvPr>
          <p:cNvSpPr>
            <a:spLocks noGrp="1"/>
          </p:cNvSpPr>
          <p:nvPr>
            <p:ph type="title"/>
          </p:nvPr>
        </p:nvSpPr>
        <p:spPr>
          <a:xfrm>
            <a:off x="523845" y="5546162"/>
            <a:ext cx="6661702" cy="953611"/>
          </a:xfrm>
        </p:spPr>
        <p:txBody>
          <a:bodyPr anchor="ctr">
            <a:normAutofit/>
          </a:bodyPr>
          <a:lstStyle/>
          <a:p>
            <a:r>
              <a:rPr lang="es-MX" sz="3100"/>
              <a:t>Administración y Validación de la Base de Datos en pgAdmin</a:t>
            </a:r>
          </a:p>
        </p:txBody>
      </p:sp>
      <p:pic>
        <p:nvPicPr>
          <p:cNvPr id="5" name="Imagen 4">
            <a:extLst>
              <a:ext uri="{FF2B5EF4-FFF2-40B4-BE49-F238E27FC236}">
                <a16:creationId xmlns:a16="http://schemas.microsoft.com/office/drawing/2014/main" id="{D8513B2C-6E2A-3F3B-1FC6-C64F49FD6455}"/>
              </a:ext>
            </a:extLst>
          </p:cNvPr>
          <p:cNvPicPr>
            <a:picLocks noChangeAspect="1"/>
          </p:cNvPicPr>
          <p:nvPr/>
        </p:nvPicPr>
        <p:blipFill>
          <a:blip r:embed="rId2"/>
          <a:srcRect l="1907" r="15546" b="-2"/>
          <a:stretch>
            <a:fillRect/>
          </a:stretch>
        </p:blipFill>
        <p:spPr>
          <a:xfrm>
            <a:off x="20" y="-1"/>
            <a:ext cx="7574488" cy="5161587"/>
          </a:xfrm>
          <a:prstGeom prst="rect">
            <a:avLst/>
          </a:prstGeom>
        </p:spPr>
      </p:pic>
      <p:sp>
        <p:nvSpPr>
          <p:cNvPr id="3" name="Marcador de contenido 2">
            <a:extLst>
              <a:ext uri="{FF2B5EF4-FFF2-40B4-BE49-F238E27FC236}">
                <a16:creationId xmlns:a16="http://schemas.microsoft.com/office/drawing/2014/main" id="{0DF2026F-7835-C353-9D19-ECC265DEEED7}"/>
              </a:ext>
            </a:extLst>
          </p:cNvPr>
          <p:cNvSpPr>
            <a:spLocks noGrp="1"/>
          </p:cNvSpPr>
          <p:nvPr>
            <p:ph idx="1"/>
          </p:nvPr>
        </p:nvSpPr>
        <p:spPr>
          <a:xfrm>
            <a:off x="8340064" y="743803"/>
            <a:ext cx="3144523" cy="5474173"/>
          </a:xfrm>
        </p:spPr>
        <p:txBody>
          <a:bodyPr anchor="ctr">
            <a:normAutofit/>
          </a:bodyPr>
          <a:lstStyle/>
          <a:p>
            <a:r>
              <a:rPr lang="es-MX" sz="1100" b="1"/>
              <a:t>Puntos Clave (Contenido de la Diapositiva)</a:t>
            </a:r>
          </a:p>
          <a:p>
            <a:pPr lvl="0"/>
            <a:r>
              <a:rPr lang="es-MX" sz="1100" b="1"/>
              <a:t>Conexión a la Instancia Local:</a:t>
            </a:r>
            <a:endParaRPr lang="es-MX" sz="1100"/>
          </a:p>
          <a:p>
            <a:pPr lvl="1"/>
            <a:r>
              <a:rPr lang="es-MX" sz="1100"/>
              <a:t>Configuración del servidor PostgreSQL (localhost:5432) mediante la interfaz gráfica de </a:t>
            </a:r>
            <a:r>
              <a:rPr lang="es-MX" sz="1100" b="1"/>
              <a:t>pgAdmin 4</a:t>
            </a:r>
            <a:r>
              <a:rPr lang="es-MX" sz="1100"/>
              <a:t>.</a:t>
            </a:r>
          </a:p>
          <a:p>
            <a:pPr lvl="1"/>
            <a:r>
              <a:rPr lang="es-MX" sz="1100"/>
              <a:t>Creación y mantenimiento de la base de datos dedicada: simulacion_volcan_db.</a:t>
            </a:r>
          </a:p>
          <a:p>
            <a:pPr lvl="0"/>
            <a:r>
              <a:rPr lang="es-MX" sz="1100" b="1"/>
              <a:t>Validación del Esquema Automatizado:</a:t>
            </a:r>
            <a:endParaRPr lang="es-MX" sz="1100"/>
          </a:p>
          <a:p>
            <a:pPr lvl="1"/>
            <a:r>
              <a:rPr lang="es-MX" sz="1100"/>
              <a:t>Verificación de la creación de tablas (dataset_poblacion y registros_volcan) generadas automáticamente por </a:t>
            </a:r>
            <a:r>
              <a:rPr lang="es-MX" sz="1100" b="1"/>
              <a:t>Hibernate / Spring Data JPA</a:t>
            </a:r>
            <a:r>
              <a:rPr lang="es-MX" sz="1100"/>
              <a:t> (ddl-auto=update).</a:t>
            </a:r>
          </a:p>
          <a:p>
            <a:pPr lvl="1"/>
            <a:r>
              <a:rPr lang="es-MX" sz="1100"/>
              <a:t>Inspección visual de tipos de datos, llaves primarias (id BIGSERIAL) y restricciones de columnas (NOT NULL).</a:t>
            </a:r>
          </a:p>
          <a:p>
            <a:pPr lvl="0"/>
            <a:r>
              <a:rPr lang="es-MX" sz="1100" b="1"/>
              <a:t>Monitoreo y Consultas SQL (Query Tool):</a:t>
            </a:r>
            <a:endParaRPr lang="es-MX" sz="1100"/>
          </a:p>
          <a:p>
            <a:pPr lvl="1"/>
            <a:r>
              <a:rPr lang="es-MX" sz="1100"/>
              <a:t>Ejecución de consultas SELECT para confirmar el poblamiento inicial ejecutado por DatasetService.</a:t>
            </a:r>
          </a:p>
          <a:p>
            <a:pPr lvl="1"/>
            <a:r>
              <a:rPr lang="es-MX" sz="1100"/>
              <a:t>Auditoría en tiempo real de los registros de simulación acumulados en la tabla registros_volcan tras cada ejecución del sistema.</a:t>
            </a:r>
          </a:p>
          <a:p>
            <a:endParaRPr lang="es-MX" sz="1100"/>
          </a:p>
        </p:txBody>
      </p:sp>
    </p:spTree>
    <p:extLst>
      <p:ext uri="{BB962C8B-B14F-4D97-AF65-F5344CB8AC3E}">
        <p14:creationId xmlns:p14="http://schemas.microsoft.com/office/powerpoint/2010/main" val="276155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6E1A09-A3FC-4079-3009-A8A7293C0782}"/>
              </a:ext>
            </a:extLst>
          </p:cNvPr>
          <p:cNvSpPr>
            <a:spLocks noGrp="1"/>
          </p:cNvSpPr>
          <p:nvPr>
            <p:ph type="title"/>
          </p:nvPr>
        </p:nvSpPr>
        <p:spPr/>
        <p:txBody>
          <a:bodyPr/>
          <a:lstStyle/>
          <a:p>
            <a:pPr algn="ctr"/>
            <a:r>
              <a:rPr lang="es-MX" dirty="0"/>
              <a:t>CONCLUCION</a:t>
            </a:r>
          </a:p>
        </p:txBody>
      </p:sp>
      <p:sp>
        <p:nvSpPr>
          <p:cNvPr id="3" name="Marcador de contenido 2">
            <a:extLst>
              <a:ext uri="{FF2B5EF4-FFF2-40B4-BE49-F238E27FC236}">
                <a16:creationId xmlns:a16="http://schemas.microsoft.com/office/drawing/2014/main" id="{2A2B2313-0F45-BCB5-D45D-0FAB3C0DA372}"/>
              </a:ext>
            </a:extLst>
          </p:cNvPr>
          <p:cNvSpPr>
            <a:spLocks noGrp="1"/>
          </p:cNvSpPr>
          <p:nvPr>
            <p:ph idx="1"/>
          </p:nvPr>
        </p:nvSpPr>
        <p:spPr/>
        <p:txBody>
          <a:bodyPr>
            <a:normAutofit fontScale="92500"/>
          </a:bodyPr>
          <a:lstStyle/>
          <a:p>
            <a:r>
              <a:rPr lang="es-MX" dirty="0"/>
              <a:t>La realización de esta práctica permitió consolidar la integración de tecnologías Java modernas para el diseño de software de simulación. Se logró establecer una arquitectura desacoplada donde el rendimiento gráfico no compromete la persistencia de datos.</a:t>
            </a:r>
          </a:p>
          <a:p>
            <a:r>
              <a:rPr lang="es-MX" dirty="0"/>
              <a:t>La automatización del esquema en </a:t>
            </a:r>
            <a:r>
              <a:rPr lang="es-MX" b="1" dirty="0"/>
              <a:t>PostgreSQL</a:t>
            </a:r>
            <a:r>
              <a:rPr lang="es-MX" dirty="0"/>
              <a:t> mediante Spring Data JPA eliminó la dependencia de scripts manuales SQL en herramientas externas como </a:t>
            </a:r>
            <a:r>
              <a:rPr lang="es-MX" dirty="0" err="1"/>
              <a:t>pgAdmin</a:t>
            </a:r>
            <a:r>
              <a:rPr lang="es-MX" dirty="0"/>
              <a:t>, integrando el ciclo de vida de los datos completamente dentro del entorno de desarrollo. Asimismo, la resolución de las barreras de </a:t>
            </a:r>
            <a:r>
              <a:rPr lang="es-MX" dirty="0" err="1"/>
              <a:t>modularización</a:t>
            </a:r>
            <a:r>
              <a:rPr lang="es-MX" dirty="0"/>
              <a:t> en Java 21 revalidó la importancia del diseño correcto de visibilidad y acceso por reflexión entre módulos en aplicaciones empresariales y de escritorio.</a:t>
            </a:r>
          </a:p>
          <a:p>
            <a:endParaRPr lang="es-MX" dirty="0"/>
          </a:p>
        </p:txBody>
      </p:sp>
    </p:spTree>
    <p:extLst>
      <p:ext uri="{BB962C8B-B14F-4D97-AF65-F5344CB8AC3E}">
        <p14:creationId xmlns:p14="http://schemas.microsoft.com/office/powerpoint/2010/main" val="2854854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5F7118-3D0F-C000-90E7-AFED327BDEE0}"/>
              </a:ext>
            </a:extLst>
          </p:cNvPr>
          <p:cNvSpPr>
            <a:spLocks noGrp="1"/>
          </p:cNvSpPr>
          <p:nvPr>
            <p:ph type="title"/>
          </p:nvPr>
        </p:nvSpPr>
        <p:spPr/>
        <p:txBody>
          <a:bodyPr/>
          <a:lstStyle/>
          <a:p>
            <a:pPr algn="ctr"/>
            <a:r>
              <a:rPr lang="es-MX" dirty="0"/>
              <a:t>FUENTES DE INFORMACION</a:t>
            </a:r>
          </a:p>
        </p:txBody>
      </p:sp>
      <p:sp>
        <p:nvSpPr>
          <p:cNvPr id="3" name="Marcador de contenido 2">
            <a:extLst>
              <a:ext uri="{FF2B5EF4-FFF2-40B4-BE49-F238E27FC236}">
                <a16:creationId xmlns:a16="http://schemas.microsoft.com/office/drawing/2014/main" id="{35776CB4-E5C8-C6EE-C0F3-0AD106471F09}"/>
              </a:ext>
            </a:extLst>
          </p:cNvPr>
          <p:cNvSpPr>
            <a:spLocks noGrp="1"/>
          </p:cNvSpPr>
          <p:nvPr>
            <p:ph idx="1"/>
          </p:nvPr>
        </p:nvSpPr>
        <p:spPr/>
        <p:txBody>
          <a:bodyPr/>
          <a:lstStyle/>
          <a:p>
            <a:pPr lvl="0"/>
            <a:r>
              <a:rPr lang="es-MX" b="1" dirty="0"/>
              <a:t>Oracle </a:t>
            </a:r>
            <a:r>
              <a:rPr lang="es-MX" b="1" dirty="0" err="1"/>
              <a:t>Corporation</a:t>
            </a:r>
            <a:r>
              <a:rPr lang="es-MX" b="1" dirty="0"/>
              <a:t>.</a:t>
            </a:r>
            <a:r>
              <a:rPr lang="es-MX" dirty="0"/>
              <a:t> (2023). </a:t>
            </a:r>
            <a:r>
              <a:rPr lang="es-MX" i="1" dirty="0"/>
              <a:t>Java </a:t>
            </a:r>
            <a:r>
              <a:rPr lang="es-MX" i="1" dirty="0" err="1"/>
              <a:t>Platform</a:t>
            </a:r>
            <a:r>
              <a:rPr lang="es-MX" i="1" dirty="0"/>
              <a:t>, Standard </a:t>
            </a:r>
            <a:r>
              <a:rPr lang="es-MX" i="1" dirty="0" err="1"/>
              <a:t>Edition</a:t>
            </a:r>
            <a:r>
              <a:rPr lang="es-MX" i="1" dirty="0"/>
              <a:t> </a:t>
            </a:r>
            <a:r>
              <a:rPr lang="es-MX" i="1" dirty="0" err="1"/>
              <a:t>JavaFX</a:t>
            </a:r>
            <a:r>
              <a:rPr lang="es-MX" i="1" dirty="0"/>
              <a:t> </a:t>
            </a:r>
            <a:r>
              <a:rPr lang="es-MX" i="1" dirty="0" err="1"/>
              <a:t>Developer</a:t>
            </a:r>
            <a:r>
              <a:rPr lang="es-MX" i="1" dirty="0"/>
              <a:t> Guide (</a:t>
            </a:r>
            <a:r>
              <a:rPr lang="es-MX" i="1" dirty="0" err="1"/>
              <a:t>Release</a:t>
            </a:r>
            <a:r>
              <a:rPr lang="es-MX" i="1" dirty="0"/>
              <a:t> 21)</a:t>
            </a:r>
            <a:r>
              <a:rPr lang="es-MX" dirty="0"/>
              <a:t>. Oracle </a:t>
            </a:r>
            <a:r>
              <a:rPr lang="es-MX" dirty="0" err="1"/>
              <a:t>Documentation</a:t>
            </a:r>
            <a:r>
              <a:rPr lang="es-MX" dirty="0"/>
              <a:t>.</a:t>
            </a:r>
          </a:p>
          <a:p>
            <a:pPr lvl="0"/>
            <a:r>
              <a:rPr lang="es-MX" b="1" dirty="0"/>
              <a:t>Walls, C.</a:t>
            </a:r>
            <a:r>
              <a:rPr lang="es-MX" dirty="0"/>
              <a:t> (2022). </a:t>
            </a:r>
            <a:r>
              <a:rPr lang="es-MX" i="1" dirty="0"/>
              <a:t>Spring in </a:t>
            </a:r>
            <a:r>
              <a:rPr lang="es-MX" i="1" dirty="0" err="1"/>
              <a:t>Action</a:t>
            </a:r>
            <a:r>
              <a:rPr lang="es-MX" dirty="0"/>
              <a:t> (6th ed.). Manning </a:t>
            </a:r>
            <a:r>
              <a:rPr lang="es-MX" dirty="0" err="1"/>
              <a:t>Publications</a:t>
            </a:r>
            <a:r>
              <a:rPr lang="es-MX" dirty="0"/>
              <a:t>.</a:t>
            </a:r>
          </a:p>
          <a:p>
            <a:pPr lvl="0"/>
            <a:r>
              <a:rPr lang="es-MX" b="1" dirty="0"/>
              <a:t>Hibernate </a:t>
            </a:r>
            <a:r>
              <a:rPr lang="es-MX" b="1" dirty="0" err="1"/>
              <a:t>Community</a:t>
            </a:r>
            <a:r>
              <a:rPr lang="es-MX" b="1" dirty="0"/>
              <a:t>.</a:t>
            </a:r>
            <a:r>
              <a:rPr lang="es-MX" dirty="0"/>
              <a:t> (2023). </a:t>
            </a:r>
            <a:r>
              <a:rPr lang="es-MX" i="1" dirty="0"/>
              <a:t>Hibernate ORM 6.3 </a:t>
            </a:r>
            <a:r>
              <a:rPr lang="es-MX" i="1" dirty="0" err="1"/>
              <a:t>User</a:t>
            </a:r>
            <a:r>
              <a:rPr lang="es-MX" i="1" dirty="0"/>
              <a:t> Guide</a:t>
            </a:r>
            <a:r>
              <a:rPr lang="es-MX" dirty="0"/>
              <a:t>. </a:t>
            </a:r>
            <a:r>
              <a:rPr lang="es-MX" dirty="0" err="1"/>
              <a:t>JBoss</a:t>
            </a:r>
            <a:r>
              <a:rPr lang="es-MX" dirty="0"/>
              <a:t> / Red </a:t>
            </a:r>
            <a:r>
              <a:rPr lang="es-MX" dirty="0" err="1"/>
              <a:t>Hat</a:t>
            </a:r>
            <a:r>
              <a:rPr lang="es-MX" dirty="0"/>
              <a:t>.</a:t>
            </a:r>
          </a:p>
          <a:p>
            <a:pPr lvl="0"/>
            <a:r>
              <a:rPr lang="es-MX" b="1" dirty="0"/>
              <a:t>PostgreSQL Global </a:t>
            </a:r>
            <a:r>
              <a:rPr lang="es-MX" b="1" dirty="0" err="1"/>
              <a:t>Development</a:t>
            </a:r>
            <a:r>
              <a:rPr lang="es-MX" b="1" dirty="0"/>
              <a:t> Group.</a:t>
            </a:r>
            <a:r>
              <a:rPr lang="es-MX" dirty="0"/>
              <a:t> (2024). </a:t>
            </a:r>
            <a:r>
              <a:rPr lang="es-MX" i="1" dirty="0"/>
              <a:t>PostgreSQL 16 </a:t>
            </a:r>
            <a:r>
              <a:rPr lang="es-MX" i="1" dirty="0" err="1"/>
              <a:t>Documentation</a:t>
            </a:r>
            <a:r>
              <a:rPr lang="es-MX" dirty="0"/>
              <a:t>. PostgreSQL.org.</a:t>
            </a:r>
          </a:p>
          <a:p>
            <a:endParaRPr lang="es-MX" dirty="0"/>
          </a:p>
        </p:txBody>
      </p:sp>
    </p:spTree>
    <p:extLst>
      <p:ext uri="{BB962C8B-B14F-4D97-AF65-F5344CB8AC3E}">
        <p14:creationId xmlns:p14="http://schemas.microsoft.com/office/powerpoint/2010/main" val="303587012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1118</Words>
  <Application>Microsoft Office PowerPoint</Application>
  <PresentationFormat>Panorámica</PresentationFormat>
  <Paragraphs>65</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Aptos</vt:lpstr>
      <vt:lpstr>Aptos Display</vt:lpstr>
      <vt:lpstr>Arial</vt:lpstr>
      <vt:lpstr>Cambria Math</vt:lpstr>
      <vt:lpstr>Times New Roman</vt:lpstr>
      <vt:lpstr>Tema de Office</vt:lpstr>
      <vt:lpstr>o</vt:lpstr>
      <vt:lpstr>INTRODUCCION</vt:lpstr>
      <vt:lpstr>JUSTIFICACION</vt:lpstr>
      <vt:lpstr>Paso 1: Configuración del Entorno y Dependencias (pom.xml)</vt:lpstr>
      <vt:lpstr>Paso 2: Modularización del Sistema (module-info.java)</vt:lpstr>
      <vt:lpstr>Paso 3: Configuración de Conexión a Base de Datos (application.properties)</vt:lpstr>
      <vt:lpstr>Paso 4: Creación de Entidades JPA y Repositorios</vt:lpstr>
      <vt:lpstr>Paso 5: Poblamiento Automático Inicial (DatasetService.java)</vt:lpstr>
      <vt:lpstr>Paso 6: Motor Eruptivo y Lógica de Evacuación (ErupcionService.java)</vt:lpstr>
      <vt:lpstr>Paso 7: Diseño de la Interfaz y Renderizado Gráfico</vt:lpstr>
      <vt:lpstr>Paso 7.1: Definición de la Vista FXML (view.fxml)</vt:lpstr>
      <vt:lpstr>Paso 7.2: Configuración del Renderizado Responsivo</vt:lpstr>
      <vt:lpstr>Gestión y Verificación en PostgreSQL con pgAdmin</vt:lpstr>
      <vt:lpstr>Administración y Validación de la Base de Datos en pgAdmin</vt:lpstr>
      <vt:lpstr>CONCLUCION</vt:lpstr>
      <vt:lpstr>FUENTES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Jesus Eduardo Villarreal Lopez</dc:creator>
  <cp:lastModifiedBy>Jesus Eduardo Villarreal Lopez</cp:lastModifiedBy>
  <cp:revision>1</cp:revision>
  <dcterms:created xsi:type="dcterms:W3CDTF">2026-10-09T02:44:31Z</dcterms:created>
  <dcterms:modified xsi:type="dcterms:W3CDTF">2026-10-09T02:57:16Z</dcterms:modified>
</cp:coreProperties>
</file>