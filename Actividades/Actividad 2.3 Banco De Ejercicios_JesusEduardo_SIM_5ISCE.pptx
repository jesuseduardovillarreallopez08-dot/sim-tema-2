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233D5-B38A-D26C-6221-9E42CC65E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B6266E-3697-D9CB-FE23-FEC6C30E6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D57A19-22AC-CF95-8DBB-52132840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347AFC-3816-5BF8-6E38-BFA9E9920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A47AB4-0666-A700-A558-94F98DAE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78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BF07B-0B12-A54C-DA6E-1DECFCCE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6C243A-79DF-5926-2D24-68CCD6341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C98A98-C766-99F5-77E1-EC26FD1F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4A930-2378-1604-D360-80AF1F84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B3285D-81C6-D8AA-D4B6-E32394BD7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850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F77E0-124E-5309-2196-7A4A4D73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3C265D-4070-3950-DB9B-9BA356230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E3BEFB-1FE7-5FAA-E55D-5EF84C6D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F3147D-B14A-1FA0-826E-B56FF150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5751CF-9EAB-5F42-1CE0-3E954830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232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92CB5-90B9-A053-9B92-84C5585F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2D2506-1014-66F5-51E0-20A6BB48B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03344C-CEDE-62AF-6F50-46A643DA7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316C93-D39B-E1B7-BD81-D7B37DE3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31A694-3DA5-2A93-DF0D-06A7B749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BE4DB1-7F4C-B19B-29CD-B2E19FE7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874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1EC92-A1B6-AD92-6C43-19C0A0D9F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C83FF9-FA85-326F-79D8-BBF604E50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CEEFEF-FDA4-A230-C4F4-6DF10B65C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3C04E0-51A8-8FB3-7031-37EC88FFE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E69843-9132-45D3-87EA-AC54BE3E3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0F0340-F4B4-1B35-AE2E-80B252CC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0D0155-9F25-72C0-CB5F-B63E28E8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C03D5DF-F268-B3DF-27B6-7C1DF838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45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72DAB-71F7-CF43-6258-8F68979F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8FA1908-22B5-7BD8-1254-4597A25E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EC0AB4-5175-8522-F8DC-DF22D503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8D9968-72E4-C1B6-3B4A-49A81747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547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0366202-1F74-1550-4F32-BB29F932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887632-B9E7-01DB-A626-9FE6A9A3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461D82-7057-1431-95F8-8929F1E5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961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20013-BDBC-3DC7-6681-0F8D2FBA4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FFDFEB-FC0D-B984-2412-381A57520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7B9DBB-23CA-87C8-528C-B3C952AAB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51833E-E207-ABD8-AEC1-DD139B9E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B63F57-D58E-4F88-FCF3-E766E333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6CCFCE-D83C-4377-EA39-AD5B3A18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208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71500-EA6E-0D54-5D83-8100BB1C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A2079C-2CC3-150A-556F-3AEF0BB9E87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78425-D14C-7197-8A41-E7D7D116C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DC846F-FECB-562C-B1BD-16F2C6B8D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3DAFDF-D742-72C9-82F7-6AC5F05F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D72FF4-4897-558F-1516-4911465F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17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995A2-BAD3-D3D6-8723-6AC84501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03B29C-F0F2-4E3A-016E-186014F03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76B967-239B-0E86-23A9-4F47AAAE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30764F-2C07-A17F-39EA-E94A037D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56B470-9291-2A99-77C4-9DD2EB85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455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2382A0-B21E-D63D-0A13-329618D6C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252288-4B38-3180-D75C-C6F53F03E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541E56-69FD-863B-BECA-BA548BB7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BEE4D3-7AD7-7251-DB39-5E109C65B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02B96D-1A3C-3400-2EF4-62E4E442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972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9F946D-9A64-F1AE-EB8B-C90C87D3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5E33BE-932F-01CC-F39D-5CCD63E96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14DBE0-3760-61D6-5265-2DE851ED2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8CE92-CCF3-4324-B189-2D7CEAED6AE9}" type="datetimeFigureOut">
              <a:rPr lang="es-MX" smtClean="0"/>
              <a:t>08/10/2026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D43EE8-7A32-C51B-4AC0-65BEE1022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95EB0C-E2BD-9F76-0CCD-F6CFA2926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13B53-4674-4A4F-979C-A908DAB4FB2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257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155FD-4400-1949-7D48-7D368E2F3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95BDC-BDC9-61B3-273B-FC49B249F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44E0FF-85CF-8086-1C12-CAEF875C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2">
            <a:extLst>
              <a:ext uri="{FF2B5EF4-FFF2-40B4-BE49-F238E27FC236}">
                <a16:creationId xmlns:a16="http://schemas.microsoft.com/office/drawing/2014/main" id="{11515F15-8C63-BCBA-C520-411E4EB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48" y="582066"/>
            <a:ext cx="1028454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TECNOLOGICO NACIONAL DE MEXICO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TECNOLOGICO DE FRONTERA COMALAPA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CARRERA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INGENIERIA EN SISTEMAS COMPUTACIONALES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SIMULACION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TRABAJO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BANCO 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EJERCICIOS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CATEDRATICO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ING.FRANCISCO JAVIER MINGO VELAZQUEZ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ESTUDIANTE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JESUS EDUARDO VILLARREAL LOPEZ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2412600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SEMESTRE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FRONTERA COMALAPA FECHA DE ENTREGA: 25</a:t>
            </a:r>
            <a:r>
              <a:rPr lang="es-MX" altLang="es-MX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/09/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1" descr="Logos Oficiales – Tecnológico Nacional de México">
            <a:extLst>
              <a:ext uri="{FF2B5EF4-FFF2-40B4-BE49-F238E27FC236}">
                <a16:creationId xmlns:a16="http://schemas.microsoft.com/office/drawing/2014/main" id="{3347955A-817B-95EA-3A08-8CEDC2B5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738" y="684442"/>
            <a:ext cx="2386188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Secretaría de Educación Pública | Secretaría de Educación ...">
            <a:extLst>
              <a:ext uri="{FF2B5EF4-FFF2-40B4-BE49-F238E27FC236}">
                <a16:creationId xmlns:a16="http://schemas.microsoft.com/office/drawing/2014/main" id="{2C71FF88-6510-5D57-2CF8-71AF26E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894" y="597455"/>
            <a:ext cx="2120900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2" descr="TecNM | Tecnológico Nacional de México">
            <a:extLst>
              <a:ext uri="{FF2B5EF4-FFF2-40B4-BE49-F238E27FC236}">
                <a16:creationId xmlns:a16="http://schemas.microsoft.com/office/drawing/2014/main" id="{FC01F475-3377-5BBC-0FB9-EC1F7F16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0449" y="597455"/>
            <a:ext cx="1980841" cy="12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EAF035-3FDD-684D-CAF1-8D20D5505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s-MX" sz="5400" b="1" dirty="0"/>
              <a:t>INTRODUCCION</a:t>
            </a:r>
            <a:endParaRPr lang="es-MX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552B3F-B6B3-A03C-D6FE-8FC887022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s-MX" sz="2000" dirty="0"/>
              <a:t>El modelado de sistemas complejos y la simulación estocástica constituyen herramientas fundamentales en la ciencia de la computación, la ingeniería de software y el análisis de datos. A través de la combinación de métodos probabilísticos como </a:t>
            </a:r>
            <a:r>
              <a:rPr lang="es-MX" sz="2000" b="1" dirty="0"/>
              <a:t>Monte Carlo</a:t>
            </a:r>
            <a:r>
              <a:rPr lang="es-MX" sz="2000" dirty="0"/>
              <a:t> y arquitecturas de software modernas (</a:t>
            </a:r>
            <a:r>
              <a:rPr lang="es-MX" sz="2000" dirty="0" err="1"/>
              <a:t>JavaFX</a:t>
            </a:r>
            <a:r>
              <a:rPr lang="es-MX" sz="2000" dirty="0"/>
              <a:t>, Spring Boot y Python), es posible recrear entornos dinámicos que van desde la propagación de desastres naturales hasta la evaluación de riesgos financieros y dinámicas epidemiológicas.</a:t>
            </a:r>
          </a:p>
          <a:p>
            <a:r>
              <a:rPr lang="es-MX" sz="2000" dirty="0"/>
              <a:t>El presente documento recopila la implementación, ejecución y validación de seis proyectos clave desarrollados en entornos de desarrollo integrado como </a:t>
            </a:r>
            <a:r>
              <a:rPr lang="es-MX" sz="2000" b="1" dirty="0"/>
              <a:t>IntelliJ IDEA</a:t>
            </a:r>
            <a:r>
              <a:rPr lang="es-MX" sz="2000" dirty="0"/>
              <a:t> y </a:t>
            </a:r>
            <a:r>
              <a:rPr lang="es-MX" sz="2000" b="1" dirty="0"/>
              <a:t>Visual Studio Code</a:t>
            </a:r>
            <a:r>
              <a:rPr lang="es-MX" sz="2000" dirty="0"/>
              <a:t>. Estas soluciones integran bases de datos relacionales (PostgreSQL / </a:t>
            </a:r>
            <a:r>
              <a:rPr lang="es-MX" sz="2000" dirty="0" err="1"/>
              <a:t>pgAdmin</a:t>
            </a:r>
            <a:r>
              <a:rPr lang="es-MX" sz="2000" dirty="0"/>
              <a:t> y H2) para el procesamiento, análisis y persistencia de datos en tiempo real.</a:t>
            </a:r>
          </a:p>
          <a:p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46949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87A7E3-E0A0-76B5-F2D3-E3279010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s-MX" sz="5400" b="1" dirty="0"/>
              <a:t>JUSTIFICACION</a:t>
            </a:r>
            <a:endParaRPr lang="es-MX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BCA6A-D6AE-8844-2C5A-26D4242C5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s-MX" sz="1300" b="1"/>
          </a:p>
          <a:p>
            <a:r>
              <a:rPr lang="es-MX" sz="1300"/>
              <a:t>La necesidad de anticipar comportamientos impredecibles en entornos reales exige el desarrollo de software capaz de procesar variables aleatorias y simular escenarios probables. Proyectos como la propagación de lava volcánica o el riesgo de impacto de objetos cercanos a la Tierra requieren no solo algoritmos matemáticos precisos, sino también interfaces gráficas e integraciones de bases de datos que faciliten la toma de decisiones.</a:t>
            </a:r>
          </a:p>
          <a:p>
            <a:r>
              <a:rPr lang="es-MX" sz="1300"/>
              <a:t>La realización de estos proyectos se justifica en los siguientes puntos:</a:t>
            </a:r>
          </a:p>
          <a:p>
            <a:pPr lvl="0"/>
            <a:r>
              <a:rPr lang="es-MX" sz="1300" b="1"/>
              <a:t>Integración Multilinguaje y Multiplataforma:</a:t>
            </a:r>
            <a:r>
              <a:rPr lang="es-MX" sz="1300"/>
              <a:t> Permite fortalecer habilidades de desarrollo tanto en </a:t>
            </a:r>
            <a:r>
              <a:rPr lang="es-MX" sz="1300" b="1"/>
              <a:t>Java</a:t>
            </a:r>
            <a:r>
              <a:rPr lang="es-MX" sz="1300"/>
              <a:t> (Spring Boot, JavaFX) para aplicaciones interactivas y empresariales, como en </a:t>
            </a:r>
            <a:r>
              <a:rPr lang="es-MX" sz="1300" b="1"/>
              <a:t>Python</a:t>
            </a:r>
            <a:r>
              <a:rPr lang="es-MX" sz="1300"/>
              <a:t> (Pandas, NumPy, SQLAlchemy) para análisis de datos y procesamiento estocástico.</a:t>
            </a:r>
          </a:p>
          <a:p>
            <a:pPr lvl="0"/>
            <a:r>
              <a:rPr lang="es-MX" sz="1300" b="1"/>
              <a:t>Persistencia de Datos Eficiente:</a:t>
            </a:r>
            <a:r>
              <a:rPr lang="es-MX" sz="1300"/>
              <a:t> Demuestra el flujo de un proceso ETL (Extracción, Transformación y Carga) conectando scripts de simulación con motores de bases de datos relacionales como </a:t>
            </a:r>
            <a:r>
              <a:rPr lang="es-MX" sz="1300" b="1"/>
              <a:t>PostgreSQL</a:t>
            </a:r>
            <a:r>
              <a:rPr lang="es-MX" sz="1300"/>
              <a:t> a través de </a:t>
            </a:r>
            <a:r>
              <a:rPr lang="es-MX" sz="1300" b="1"/>
              <a:t>pgAdmin</a:t>
            </a:r>
            <a:r>
              <a:rPr lang="es-MX" sz="1300"/>
              <a:t> y </a:t>
            </a:r>
            <a:r>
              <a:rPr lang="es-MX" sz="1300" b="1"/>
              <a:t>H2</a:t>
            </a:r>
            <a:r>
              <a:rPr lang="es-MX" sz="1300"/>
              <a:t>.</a:t>
            </a:r>
          </a:p>
          <a:p>
            <a:pPr lvl="0"/>
            <a:r>
              <a:rPr lang="es-MX" sz="1300" b="1"/>
              <a:t>Aplicación Práctica del Método de Monte Carlo:</a:t>
            </a:r>
            <a:r>
              <a:rPr lang="es-MX" sz="1300"/>
              <a:t> Valida la utilidad de los números pseudoaleatorios y distribuciones de probabilidad para estimar métricas de riesgo (VaR, probabilidad de colisión, curvas de contagio) en escenarios donde las soluciones analíticas directas son complejas o inviables.</a:t>
            </a:r>
          </a:p>
          <a:p>
            <a:endParaRPr lang="es-MX" sz="1300"/>
          </a:p>
        </p:txBody>
      </p:sp>
    </p:spTree>
    <p:extLst>
      <p:ext uri="{BB962C8B-B14F-4D97-AF65-F5344CB8AC3E}">
        <p14:creationId xmlns:p14="http://schemas.microsoft.com/office/powerpoint/2010/main" val="296939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D89E98-3737-9E5D-A737-E96E94C7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A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continuación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presentan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las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capturas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pantalla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la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compilación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ejecución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exitosa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cada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uno de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proyectos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desarrollados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entornos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trabajo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correspondientes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82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96AC18-2136-1F14-B5DD-7689BB49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s-MX" sz="2800" b="1" dirty="0"/>
              <a:t>3.1. Simulación de Erupción Volcánica (</a:t>
            </a:r>
            <a:r>
              <a:rPr lang="es-MX" sz="2800" b="1" dirty="0" err="1"/>
              <a:t>simulacion-volcan</a:t>
            </a:r>
            <a:r>
              <a:rPr lang="es-MX" sz="2800" b="1" dirty="0"/>
              <a:t>)</a:t>
            </a:r>
            <a:endParaRPr lang="es-MX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E5C65D-B931-FE2D-B472-EBFE2CAB7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s-MX" sz="1800" i="1"/>
              <a:t>Compilación en IntelliJ IDEA del controlador VolcanController.java perteneciente al proyecto Spring Boot simulacion-volcan, mostrando la inicialización del mapa grid, la velocidad de propagación de lava y la carga del dataset poblacional del Popocatépetl desde archivos CSV</a:t>
            </a:r>
            <a:endParaRPr lang="es-MX" sz="1800"/>
          </a:p>
          <a:p>
            <a:endParaRPr lang="es-MX" sz="1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912AD2-325F-BABB-FE56-D445952AB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305" y="841905"/>
            <a:ext cx="4119426" cy="231717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962BD4-E766-1B08-6253-A6283D407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305" y="3703659"/>
            <a:ext cx="4119426" cy="2317178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45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A6B3E5-1ED4-2708-1EAB-F8D07381D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3.2. Motor de Defensa Planetaria 2D (galacticshield)</a:t>
            </a:r>
            <a:endParaRPr lang="es-MX" sz="4100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C9B0C1-4735-D331-82D5-A599709D2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MX" sz="2000" i="1"/>
              <a:t>Estructura del proyecto JavaFX galacticshield en IntelliJ IDEA, destacando las entidades Asteroid y ShieldSector, así como el controlador GameController.java y el servicio MonteCarloService.java para el renderizado Canvas</a:t>
            </a:r>
            <a:endParaRPr lang="es-MX" sz="2000"/>
          </a:p>
          <a:p>
            <a:pPr marL="0" indent="0">
              <a:buNone/>
            </a:pPr>
            <a:endParaRPr lang="es-MX" sz="2000" b="1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BA36EF-F985-CE75-D652-896E2ED1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9299"/>
            <a:ext cx="5150277" cy="2884155"/>
          </a:xfrm>
          <a:prstGeom prst="rect">
            <a:avLst/>
          </a:prstGeom>
        </p:spPr>
      </p:pic>
      <p:sp>
        <p:nvSpPr>
          <p:cNvPr id="21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1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FA202D-B264-E84E-9531-C3AB2FD2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s-MX" sz="2500" b="1"/>
              <a:t>3.3. Sistema de Juego e Inteligencia Artificial (simulacion-damas)</a:t>
            </a:r>
            <a:endParaRPr lang="es-MX" sz="25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FFB6CA-EF2F-9E6B-25E1-09A98BCB4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s-MX" sz="2000" i="1"/>
              <a:t>Configuración de propiedades de base de datos en memoria H2 (application.properties) dentro del proyecto Spring Boot simulacion-damas para la gestión y persistencia del estado de partidas de IA</a:t>
            </a:r>
            <a:endParaRPr lang="es-MX" sz="2000"/>
          </a:p>
          <a:p>
            <a:endParaRPr lang="es-MX" sz="2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C91761-A325-3C8B-35A7-A0E534778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604492"/>
            <a:ext cx="4397433" cy="247355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8A9FAFD-470A-B07A-AC53-E38739811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3731018"/>
            <a:ext cx="4395569" cy="247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3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4A96D4-2C54-A417-18F2-DCF60893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s-MX" sz="2500" b="1"/>
              <a:t>3.4. Simulación de Defensa Planetaria con PostgreSQL (GalacticShield-MonteCarlo)</a:t>
            </a:r>
            <a:endParaRPr lang="es-MX" sz="25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D301BD-298E-C0DE-27A1-C791168B3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s-MX" sz="2000" i="1"/>
              <a:t>Ejecución exitosa en la terminal de VS Code del script simulacion_asteroide_pgadmin.py, procesando 800 trayectorias de Monte Carlo para la evaluación de amenaza del asteroide 'Apophis-2026' y registrando los resultados en pgAdmin</a:t>
            </a:r>
            <a:endParaRPr lang="es-MX" sz="2000"/>
          </a:p>
          <a:p>
            <a:endParaRPr lang="es-MX"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C9DF0B-B070-2241-3120-B1E702393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780390"/>
            <a:ext cx="4397433" cy="212176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E940115-A26E-3C40-2266-E8A9F142C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3731018"/>
            <a:ext cx="4395569" cy="247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5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B22318-B6D0-F663-DC5F-5FF15A9A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s-MX" sz="2500" b="1"/>
              <a:t>3.5. Análises de Riesgo Financiero (CryptoRisk-MonteCarlo)</a:t>
            </a:r>
            <a:endParaRPr lang="es-MX" sz="2500"/>
          </a:p>
        </p:txBody>
      </p:sp>
      <p:grpSp>
        <p:nvGrpSpPr>
          <p:cNvPr id="39" name="Group 2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0" name="Rectangle 2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2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Rectangle 3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B5D3EF2-6536-AB08-5C2E-9A76D6044A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5278066" cy="3979585"/>
              </a:xfrm>
            </p:spPr>
            <p:txBody>
              <a:bodyPr anchor="ctr">
                <a:normAutofit/>
              </a:bodyPr>
              <a:lstStyle/>
              <a:p>
                <a:r>
                  <a:rPr lang="es-MX" sz="2000" i="1"/>
                  <a:t>Ejecución del script simulacion_financiera_pgadmin.py en VS Code, mostrando la carga de datos desde PostgreSQL, el cálculo de parámetros de volatilidad (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MX" sz="2000" i="1"/>
                  <a:t>) y rendimiento (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MX" sz="2000" i="1"/>
                  <a:t>), y la ejecución de 1,000 proyecciones por Movimiento Browniano Geométrico</a:t>
                </a:r>
                <a:endParaRPr lang="es-MX" sz="2000"/>
              </a:p>
              <a:p>
                <a:endParaRPr lang="es-MX" sz="200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B5D3EF2-6536-AB08-5C2E-9A76D6044A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5278066" cy="3979585"/>
              </a:xfrm>
              <a:blipFill>
                <a:blip r:embed="rId2"/>
                <a:stretch>
                  <a:fillRect l="-10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3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42E0721-14DB-80FF-4034-EC52ABB10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5" r="-4" b="-4"/>
          <a:stretch>
            <a:fillRect/>
          </a:stretch>
        </p:blipFill>
        <p:spPr>
          <a:xfrm>
            <a:off x="7083423" y="581892"/>
            <a:ext cx="4397433" cy="251875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AED77F-B5B7-9C08-12F8-FD199C7417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6" r="-4" b="-4"/>
          <a:stretch>
            <a:fillRect/>
          </a:stretch>
        </p:blipFill>
        <p:spPr>
          <a:xfrm>
            <a:off x="7083423" y="3707894"/>
            <a:ext cx="439556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52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83E303-160B-D9B1-CC54-E53AC525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s-MX" sz="2800" b="1"/>
              <a:t>3.6. Modelado Epidemiológico Estocástico (BioSim-MonteCarlo)</a:t>
            </a:r>
            <a:endParaRPr lang="es-MX" sz="2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342CE5-62FA-1E6C-B15A-33E4CFCC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s-MX" sz="2000" i="1"/>
              <a:t>Entorno de desarrollo en VS Code del proyecto BioSim-MonteCarlo, mostrando la configuración de la cadena de conexión SQLAlchemy/psycopg2 hacia la base de datos biosim_db en PostgreSQL</a:t>
            </a:r>
            <a:endParaRPr lang="es-MX" sz="2000"/>
          </a:p>
          <a:p>
            <a:pPr marL="0" indent="0">
              <a:buNone/>
            </a:pPr>
            <a:endParaRPr lang="es-MX" sz="20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AA9537D-16ED-B69F-17B7-F3E90D08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791" b="-4"/>
          <a:stretch>
            <a:fillRect/>
          </a:stretch>
        </p:blipFill>
        <p:spPr>
          <a:xfrm>
            <a:off x="7083423" y="581892"/>
            <a:ext cx="4397433" cy="251875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A266CD-C604-9EDC-4868-F9A7B478B7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6" r="-4" b="-4"/>
          <a:stretch>
            <a:fillRect/>
          </a:stretch>
        </p:blipFill>
        <p:spPr>
          <a:xfrm>
            <a:off x="7083423" y="3707894"/>
            <a:ext cx="439556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355B7-C5CF-2571-B494-223EEC8A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CONCLUCION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80924E-EDBC-B645-B053-A1471E144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s-MX" b="1" dirty="0"/>
          </a:p>
          <a:p>
            <a:r>
              <a:rPr lang="es-MX" dirty="0"/>
              <a:t>El desarrollo e integración de estos seis proyectos demuestra la versatilidad de la simulación computacional cuando se combina adecuadamente con la gestión de bases de datos y la programación orientada a objetos. Se logró comprobar que el </a:t>
            </a:r>
            <a:r>
              <a:rPr lang="es-MX" b="1" dirty="0"/>
              <a:t>Método de Monte Carlo</a:t>
            </a:r>
            <a:r>
              <a:rPr lang="es-MX" dirty="0"/>
              <a:t> proporciona estimaciones probabilísticas altamente precisas para la toma de decisiones en sectores diversos como la epidemiología, las finanzas y la ingeniería aeroespacial.</a:t>
            </a:r>
          </a:p>
          <a:p>
            <a:r>
              <a:rPr lang="es-MX" dirty="0"/>
              <a:t>Asimismo, la implementación de proyectos tanto en </a:t>
            </a:r>
            <a:r>
              <a:rPr lang="es-MX" b="1" dirty="0"/>
              <a:t>Java (IntelliJ IDEA)</a:t>
            </a:r>
            <a:r>
              <a:rPr lang="es-MX" dirty="0"/>
              <a:t> como en </a:t>
            </a:r>
            <a:r>
              <a:rPr lang="es-MX" b="1" dirty="0"/>
              <a:t>Python (VS Code)</a:t>
            </a:r>
            <a:r>
              <a:rPr lang="es-MX" dirty="0"/>
              <a:t> consolidó el dominio en el manejo de arquitecturas de software modulares, la persistencia de datos relacional mediante ORMs (JPA/Hibernate y </a:t>
            </a:r>
            <a:r>
              <a:rPr lang="es-MX" dirty="0" err="1"/>
              <a:t>SQLAlchemy</a:t>
            </a:r>
            <a:r>
              <a:rPr lang="es-MX" dirty="0"/>
              <a:t>) y la creación de interfaces interactivas para el monitoreo de simulaciones en tiempo real.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2737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25170-0E7B-B2DE-F461-7D915B91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FUENTES DE INFORMACION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90A827-A0BC-F413-B52A-48A5C04D4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MX" b="1" dirty="0"/>
              <a:t>Deitel, P., &amp; Deitel, H.</a:t>
            </a:r>
            <a:r>
              <a:rPr lang="es-MX" dirty="0"/>
              <a:t> (2017). </a:t>
            </a:r>
            <a:r>
              <a:rPr lang="es-MX" i="1" dirty="0"/>
              <a:t>Java How </a:t>
            </a:r>
            <a:r>
              <a:rPr lang="es-MX" i="1" dirty="0" err="1"/>
              <a:t>to</a:t>
            </a:r>
            <a:r>
              <a:rPr lang="es-MX" i="1" dirty="0"/>
              <a:t> </a:t>
            </a:r>
            <a:r>
              <a:rPr lang="es-MX" i="1" dirty="0" err="1"/>
              <a:t>Program</a:t>
            </a:r>
            <a:r>
              <a:rPr lang="es-MX" i="1" dirty="0"/>
              <a:t> (Early </a:t>
            </a:r>
            <a:r>
              <a:rPr lang="es-MX" i="1" dirty="0" err="1"/>
              <a:t>Objects</a:t>
            </a:r>
            <a:r>
              <a:rPr lang="es-MX" i="1" dirty="0"/>
              <a:t>)</a:t>
            </a:r>
            <a:r>
              <a:rPr lang="es-MX" dirty="0"/>
              <a:t> (11th ed.). Pearson.</a:t>
            </a:r>
          </a:p>
          <a:p>
            <a:pPr lvl="0"/>
            <a:r>
              <a:rPr lang="es-MX" b="1" dirty="0"/>
              <a:t>McKinney, W.</a:t>
            </a:r>
            <a:r>
              <a:rPr lang="es-MX" dirty="0"/>
              <a:t> (2022). </a:t>
            </a:r>
            <a:r>
              <a:rPr lang="es-MX" i="1" dirty="0"/>
              <a:t>Python </a:t>
            </a:r>
            <a:r>
              <a:rPr lang="es-MX" i="1" dirty="0" err="1"/>
              <a:t>for</a:t>
            </a:r>
            <a:r>
              <a:rPr lang="es-MX" i="1" dirty="0"/>
              <a:t> Data </a:t>
            </a:r>
            <a:r>
              <a:rPr lang="es-MX" i="1" dirty="0" err="1"/>
              <a:t>Analysis</a:t>
            </a:r>
            <a:r>
              <a:rPr lang="es-MX" i="1" dirty="0"/>
              <a:t>: Data </a:t>
            </a:r>
            <a:r>
              <a:rPr lang="es-MX" i="1" dirty="0" err="1"/>
              <a:t>Wrangling</a:t>
            </a:r>
            <a:r>
              <a:rPr lang="es-MX" i="1" dirty="0"/>
              <a:t> </a:t>
            </a:r>
            <a:r>
              <a:rPr lang="es-MX" i="1" dirty="0" err="1"/>
              <a:t>with</a:t>
            </a:r>
            <a:r>
              <a:rPr lang="es-MX" i="1" dirty="0"/>
              <a:t> Pandas, </a:t>
            </a:r>
            <a:r>
              <a:rPr lang="es-MX" i="1" dirty="0" err="1"/>
              <a:t>NumPy</a:t>
            </a:r>
            <a:r>
              <a:rPr lang="es-MX" i="1" dirty="0"/>
              <a:t>, and </a:t>
            </a:r>
            <a:r>
              <a:rPr lang="es-MX" i="1" dirty="0" err="1"/>
              <a:t>Jupyter</a:t>
            </a:r>
            <a:r>
              <a:rPr lang="es-MX" dirty="0"/>
              <a:t> (3rd ed.). O'Reilly Media.</a:t>
            </a:r>
          </a:p>
          <a:p>
            <a:pPr lvl="0"/>
            <a:r>
              <a:rPr lang="es-MX" b="1" dirty="0"/>
              <a:t>Mooney, C. Z.</a:t>
            </a:r>
            <a:r>
              <a:rPr lang="es-MX" dirty="0"/>
              <a:t> (1997). </a:t>
            </a:r>
            <a:r>
              <a:rPr lang="es-MX" i="1" dirty="0"/>
              <a:t>Monte Carlo </a:t>
            </a:r>
            <a:r>
              <a:rPr lang="es-MX" i="1" dirty="0" err="1"/>
              <a:t>Simulation</a:t>
            </a:r>
            <a:r>
              <a:rPr lang="es-MX" dirty="0"/>
              <a:t> (</a:t>
            </a:r>
            <a:r>
              <a:rPr lang="es-MX" dirty="0" err="1"/>
              <a:t>Quantitative</a:t>
            </a:r>
            <a:r>
              <a:rPr lang="es-MX" dirty="0"/>
              <a:t> </a:t>
            </a:r>
            <a:r>
              <a:rPr lang="es-MX" dirty="0" err="1"/>
              <a:t>Applications</a:t>
            </a:r>
            <a:r>
              <a:rPr lang="es-MX" dirty="0"/>
              <a:t> in </a:t>
            </a:r>
            <a:r>
              <a:rPr lang="es-MX" dirty="0" err="1"/>
              <a:t>the</a:t>
            </a:r>
            <a:r>
              <a:rPr lang="es-MX" dirty="0"/>
              <a:t> Social </a:t>
            </a:r>
            <a:r>
              <a:rPr lang="es-MX" dirty="0" err="1"/>
              <a:t>Sciences</a:t>
            </a:r>
            <a:r>
              <a:rPr lang="es-MX" dirty="0"/>
              <a:t>). SAGE </a:t>
            </a:r>
            <a:r>
              <a:rPr lang="es-MX" dirty="0" err="1"/>
              <a:t>Publications</a:t>
            </a:r>
            <a:r>
              <a:rPr lang="es-MX" dirty="0"/>
              <a:t>.</a:t>
            </a:r>
          </a:p>
          <a:p>
            <a:pPr lvl="0"/>
            <a:r>
              <a:rPr lang="es-MX" b="1" dirty="0"/>
              <a:t>PostgreSQL Global </a:t>
            </a:r>
            <a:r>
              <a:rPr lang="es-MX" b="1" dirty="0" err="1"/>
              <a:t>Development</a:t>
            </a:r>
            <a:r>
              <a:rPr lang="es-MX" b="1" dirty="0"/>
              <a:t> Group.</a:t>
            </a:r>
            <a:r>
              <a:rPr lang="es-MX" dirty="0"/>
              <a:t> (2026). </a:t>
            </a:r>
            <a:r>
              <a:rPr lang="es-MX" i="1" dirty="0"/>
              <a:t>PostgreSQL 17.5 </a:t>
            </a:r>
            <a:r>
              <a:rPr lang="es-MX" i="1" dirty="0" err="1"/>
              <a:t>Documentation</a:t>
            </a:r>
            <a:r>
              <a:rPr lang="es-MX" dirty="0"/>
              <a:t>. Recuperado de </a:t>
            </a:r>
            <a:r>
              <a:rPr lang="es-MX" dirty="0">
                <a:hlinkClick r:id="rId2"/>
              </a:rPr>
              <a:t>https://www.postgresql.org/docs/</a:t>
            </a:r>
            <a:endParaRPr lang="es-MX" dirty="0"/>
          </a:p>
          <a:p>
            <a:pPr lvl="0"/>
            <a:r>
              <a:rPr lang="es-MX" b="1" dirty="0"/>
              <a:t>Walls, C.</a:t>
            </a:r>
            <a:r>
              <a:rPr lang="es-MX" dirty="0"/>
              <a:t> (2022). </a:t>
            </a:r>
            <a:r>
              <a:rPr lang="es-MX" i="1" dirty="0"/>
              <a:t>Spring in </a:t>
            </a:r>
            <a:r>
              <a:rPr lang="es-MX" i="1" dirty="0" err="1"/>
              <a:t>Action</a:t>
            </a:r>
            <a:r>
              <a:rPr lang="es-MX" dirty="0"/>
              <a:t> (6th ed.). Manning </a:t>
            </a:r>
            <a:r>
              <a:rPr lang="es-MX" dirty="0" err="1"/>
              <a:t>Publications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493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946</Words>
  <Application>Microsoft Office PowerPoint</Application>
  <PresentationFormat>Panorámica</PresentationFormat>
  <Paragraphs>50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Times New Roman</vt:lpstr>
      <vt:lpstr>Tema de Office</vt:lpstr>
      <vt:lpstr>o</vt:lpstr>
      <vt:lpstr>INTRODUCCION</vt:lpstr>
      <vt:lpstr>JUSTIFICACION</vt:lpstr>
      <vt:lpstr>3. A continuación se presentan las capturas de pantalla de la compilación y ejecución exitosa de cada uno de los proyectos desarrollados en los entornos de trabajo correspondientes:</vt:lpstr>
      <vt:lpstr>3.1. Simulación de Erupción Volcánica (simulacion-volcan)</vt:lpstr>
      <vt:lpstr>3.2. Motor de Defensa Planetaria 2D (galacticshield)</vt:lpstr>
      <vt:lpstr>3.3. Sistema de Juego e Inteligencia Artificial (simulacion-damas)</vt:lpstr>
      <vt:lpstr>3.4. Simulación de Defensa Planetaria con PostgreSQL (GalacticShield-MonteCarlo)</vt:lpstr>
      <vt:lpstr>3.5. Análises de Riesgo Financiero (CryptoRisk-MonteCarlo)</vt:lpstr>
      <vt:lpstr>3.6. Modelado Epidemiológico Estocástico (BioSim-MonteCarlo)</vt:lpstr>
      <vt:lpstr>CONCLUCION</vt:lpstr>
      <vt:lpstr>FUENTES DE INFORMACION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Eduardo Villarreal Lopez</dc:creator>
  <cp:lastModifiedBy>Jesus Eduardo Villarreal Lopez</cp:lastModifiedBy>
  <cp:revision>1</cp:revision>
  <dcterms:created xsi:type="dcterms:W3CDTF">2026-10-09T04:22:57Z</dcterms:created>
  <dcterms:modified xsi:type="dcterms:W3CDTF">2026-10-09T05:10:46Z</dcterms:modified>
</cp:coreProperties>
</file>